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61" r:id="rId4"/>
    <p:sldId id="260" r:id="rId5"/>
    <p:sldId id="282" r:id="rId6"/>
    <p:sldId id="263" r:id="rId7"/>
    <p:sldId id="268" r:id="rId8"/>
    <p:sldId id="274" r:id="rId9"/>
    <p:sldId id="275" r:id="rId10"/>
    <p:sldId id="283" r:id="rId11"/>
    <p:sldId id="284" r:id="rId12"/>
    <p:sldId id="270" r:id="rId13"/>
    <p:sldId id="285" r:id="rId14"/>
    <p:sldId id="276" r:id="rId15"/>
    <p:sldId id="277" r:id="rId16"/>
    <p:sldId id="278" r:id="rId17"/>
    <p:sldId id="279" r:id="rId18"/>
    <p:sldId id="280" r:id="rId19"/>
    <p:sldId id="286" r:id="rId20"/>
    <p:sldId id="287" r:id="rId21"/>
    <p:sldId id="288" r:id="rId22"/>
    <p:sldId id="281" r:id="rId23"/>
    <p:sldId id="267" r:id="rId24"/>
    <p:sldId id="259" r:id="rId25"/>
  </p:sldIdLst>
  <p:sldSz cx="12192000" cy="6858000"/>
  <p:notesSz cx="6858000" cy="9144000"/>
  <p:embeddedFontLst>
    <p:embeddedFont>
      <p:font typeface="Lato Black" panose="020F0502020204030203" pitchFamily="34" charset="0"/>
      <p:bold r:id="rId27"/>
      <p:boldItalic r:id="rId28"/>
    </p:embeddedFont>
    <p:embeddedFont>
      <p:font typeface="Libre Baskerville" panose="02000000000000000000" pitchFamily="2" charset="0"/>
      <p:regular r:id="rId29"/>
      <p:bold r:id="rId30"/>
      <p: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7" name="Google Shape;27;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1408" cy="6145161"/>
          </a:xfrm>
          <a:prstGeom prst="rect">
            <a:avLst/>
          </a:prstGeom>
          <a:noFill/>
          <a:ln>
            <a:noFill/>
          </a:ln>
        </p:spPr>
      </p:pic>
      <p:sp>
        <p:nvSpPr>
          <p:cNvPr id="99" name="Google Shape;99;p1"/>
          <p:cNvSpPr txBox="1"/>
          <p:nvPr/>
        </p:nvSpPr>
        <p:spPr>
          <a:xfrm>
            <a:off x="3996904" y="3500283"/>
            <a:ext cx="4449006" cy="86173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5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Exploratory Data Analysis on Flipkart</a:t>
            </a:r>
            <a:endParaRPr sz="25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E2C8EF8-740B-2EF7-5BA2-A1BA74AACE92}"/>
              </a:ext>
            </a:extLst>
          </p:cNvPr>
          <p:cNvSpPr txBox="1"/>
          <p:nvPr/>
        </p:nvSpPr>
        <p:spPr>
          <a:xfrm>
            <a:off x="7855974" y="4910158"/>
            <a:ext cx="3244645" cy="1015663"/>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Team Members :</a:t>
            </a:r>
          </a:p>
          <a:p>
            <a:r>
              <a:rPr lang="en-IN" sz="2000" dirty="0">
                <a:latin typeface="Times New Roman" panose="02020603050405020304" pitchFamily="18" charset="0"/>
                <a:cs typeface="Times New Roman" panose="02020603050405020304" pitchFamily="18" charset="0"/>
              </a:rPr>
              <a:t> L. Sandhya</a:t>
            </a:r>
          </a:p>
          <a:p>
            <a:r>
              <a:rPr lang="en-IN" sz="2000" dirty="0">
                <a:latin typeface="Times New Roman" panose="02020603050405020304" pitchFamily="18" charset="0"/>
                <a:cs typeface="Times New Roman" panose="02020603050405020304" pitchFamily="18" charset="0"/>
              </a:rPr>
              <a:t> L. Thrisha Sai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648929" y="1144787"/>
            <a:ext cx="10894142" cy="2169784"/>
          </a:xfrm>
          <a:prstGeom prst="rect">
            <a:avLst/>
          </a:prstGeom>
          <a:noFill/>
          <a:ln>
            <a:noFill/>
          </a:ln>
        </p:spPr>
        <p:txBody>
          <a:bodyPr spcFirstLastPara="1" wrap="square" lIns="91425" tIns="45700" rIns="91425" bIns="45700" anchor="t" anchorCtr="0">
            <a:spAutoFit/>
          </a:bodyPr>
          <a:lstStyle/>
          <a:p>
            <a:pPr lvl="0" algn="just">
              <a:lnSpc>
                <a:spcPct val="150000"/>
              </a:lnSpc>
              <a:buClr>
                <a:schemeClr val="dk1"/>
              </a:buClr>
              <a:buSzPts val="1800"/>
            </a:pPr>
            <a:r>
              <a:rPr lang="en-US" sz="1800" dirty="0">
                <a:solidFill>
                  <a:schemeClr val="dk1"/>
                </a:solidFill>
                <a:latin typeface="Times New Roman" panose="02020603050405020304" pitchFamily="18" charset="0"/>
                <a:ea typeface="Calibri"/>
                <a:cs typeface="Times New Roman" panose="02020603050405020304" pitchFamily="18" charset="0"/>
                <a:sym typeface="Calibri"/>
              </a:rPr>
              <a:t>The Flipkart platform provides a vast selection of laptops with varying prices, specifications, and ratings, making it challenging for customers and sellers to understand market dynamics. This project aims to perform Exploratory Data Analysis (EDA) on Flipkart laptop data to investigate pricing patterns, brand performance, customer rating trends, and feature-based segmentation. The analysis will uncover key insights that help consumers make better purchasing decisions and assist retailers in designing competitive pricing and feature strategies.</a:t>
            </a: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1" i="0" u="none" strike="noStrike" cap="none" dirty="0">
                <a:solidFill>
                  <a:srgbClr val="FF0000"/>
                </a:solidFill>
                <a:latin typeface="Times New Roman" panose="02020603050405020304" pitchFamily="18" charset="0"/>
                <a:ea typeface="Lato Black"/>
                <a:cs typeface="Times New Roman" panose="02020603050405020304" pitchFamily="18" charset="0"/>
                <a:sym typeface="Lato Black"/>
              </a:rPr>
              <a:t>Problem</a:t>
            </a:r>
            <a:r>
              <a:rPr lang="en-IN" sz="3200" b="1" i="0" u="none" strike="noStrike" cap="none" dirty="0">
                <a:solidFill>
                  <a:srgbClr val="FF0000"/>
                </a:solidFill>
                <a:latin typeface="Lato Black"/>
                <a:ea typeface="Lato Black"/>
                <a:cs typeface="Lato Black"/>
                <a:sym typeface="Lato Black"/>
              </a:rPr>
              <a:t> </a:t>
            </a:r>
            <a:r>
              <a:rPr lang="en-IN" sz="3200" b="1" i="0" u="none" strike="noStrike" cap="none" dirty="0">
                <a:solidFill>
                  <a:srgbClr val="FF0000"/>
                </a:solidFill>
                <a:latin typeface="Times New Roman" panose="02020603050405020304" pitchFamily="18" charset="0"/>
                <a:ea typeface="Lato Black"/>
                <a:cs typeface="Times New Roman" panose="02020603050405020304" pitchFamily="18" charset="0"/>
                <a:sym typeface="Lato Black"/>
              </a:rPr>
              <a:t>Statement</a:t>
            </a:r>
            <a:r>
              <a:rPr lang="en-IN" sz="3200" b="1" i="0" u="none" strike="noStrike" cap="none" dirty="0">
                <a:solidFill>
                  <a:srgbClr val="FF0000"/>
                </a:solidFill>
                <a:latin typeface="Lato Black"/>
                <a:ea typeface="Lato Black"/>
                <a:cs typeface="Lato Black"/>
                <a:sym typeface="Lato Black"/>
              </a:rPr>
              <a:t> </a:t>
            </a:r>
            <a:endParaRPr sz="1800" b="1" i="0" u="none" strike="noStrike" cap="none" dirty="0">
              <a:solidFill>
                <a:srgbClr val="FF0000"/>
              </a:solidFill>
              <a:latin typeface="Calibri"/>
              <a:ea typeface="Calibri"/>
              <a:cs typeface="Calibri"/>
              <a:sym typeface="Calibri"/>
            </a:endParaRPr>
          </a:p>
        </p:txBody>
      </p:sp>
      <p:sp>
        <p:nvSpPr>
          <p:cNvPr id="3" name="TextBox 2">
            <a:extLst>
              <a:ext uri="{FF2B5EF4-FFF2-40B4-BE49-F238E27FC236}">
                <a16:creationId xmlns:a16="http://schemas.microsoft.com/office/drawing/2014/main" id="{439CFC4A-8845-684A-062E-C36455FDFAC2}"/>
              </a:ext>
            </a:extLst>
          </p:cNvPr>
          <p:cNvSpPr txBox="1"/>
          <p:nvPr/>
        </p:nvSpPr>
        <p:spPr>
          <a:xfrm>
            <a:off x="427656" y="3415709"/>
            <a:ext cx="2939845" cy="486287"/>
          </a:xfrm>
          <a:prstGeom prst="rect">
            <a:avLst/>
          </a:prstGeom>
          <a:noFill/>
        </p:spPr>
        <p:txBody>
          <a:bodyPr wrap="square">
            <a:spAutoFit/>
          </a:bodyPr>
          <a:lstStyle/>
          <a:p>
            <a:pPr marL="0" marR="0" lvl="0" indent="0" algn="l" rtl="0">
              <a:lnSpc>
                <a:spcPct val="80000"/>
              </a:lnSpc>
              <a:spcBef>
                <a:spcPts val="0"/>
              </a:spcBef>
              <a:spcAft>
                <a:spcPts val="0"/>
              </a:spcAft>
              <a:buClr>
                <a:srgbClr val="FF0000"/>
              </a:buClr>
              <a:buSzPts val="3200"/>
              <a:buFont typeface="Lato Black"/>
              <a:buNone/>
            </a:pPr>
            <a:r>
              <a:rPr lang="en-IN" sz="3200" b="1" i="0" u="none" strike="noStrike" cap="none" dirty="0">
                <a:solidFill>
                  <a:srgbClr val="FF0000"/>
                </a:solidFill>
                <a:latin typeface="Times New Roman" panose="02020603050405020304" pitchFamily="18" charset="0"/>
                <a:ea typeface="Lato Black"/>
                <a:cs typeface="Times New Roman" panose="02020603050405020304" pitchFamily="18" charset="0"/>
                <a:sym typeface="Lato Black"/>
              </a:rPr>
              <a:t>Objectives</a:t>
            </a:r>
            <a:endParaRPr lang="en-IN" sz="3200" b="1"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
        <p:nvSpPr>
          <p:cNvPr id="4" name="TextBox 3">
            <a:extLst>
              <a:ext uri="{FF2B5EF4-FFF2-40B4-BE49-F238E27FC236}">
                <a16:creationId xmlns:a16="http://schemas.microsoft.com/office/drawing/2014/main" id="{A3A64AA9-FAEE-A074-ABB8-51C14EFF2904}"/>
              </a:ext>
            </a:extLst>
          </p:cNvPr>
          <p:cNvSpPr txBox="1"/>
          <p:nvPr/>
        </p:nvSpPr>
        <p:spPr>
          <a:xfrm>
            <a:off x="884903" y="3901996"/>
            <a:ext cx="9360310" cy="1704569"/>
          </a:xfrm>
          <a:prstGeom prst="rect">
            <a:avLst/>
          </a:prstGeom>
          <a:noFill/>
        </p:spPr>
        <p:txBody>
          <a:bodyPr wrap="square">
            <a:spAutoFit/>
          </a:bodyPr>
          <a:lstStyle/>
          <a:p>
            <a:pPr marL="342900" indent="-342900">
              <a:lnSpc>
                <a:spcPct val="150000"/>
              </a:lnSpc>
              <a:buAutoNum type="arabicPeriod"/>
            </a:pPr>
            <a:r>
              <a:rPr lang="en-US" sz="1800" dirty="0">
                <a:latin typeface="Times New Roman" panose="02020603050405020304" pitchFamily="18" charset="0"/>
                <a:cs typeface="Times New Roman" panose="02020603050405020304" pitchFamily="18" charset="0"/>
              </a:rPr>
              <a:t>To understand the structure and characteristics of the Flipkart laptop dataset.</a:t>
            </a:r>
          </a:p>
          <a:p>
            <a:pPr marL="342900" indent="-342900">
              <a:lnSpc>
                <a:spcPct val="150000"/>
              </a:lnSpc>
              <a:buAutoNum type="arabicPeriod"/>
            </a:pPr>
            <a:r>
              <a:rPr lang="en-US" sz="1800" dirty="0">
                <a:latin typeface="Times New Roman" panose="02020603050405020304" pitchFamily="18" charset="0"/>
                <a:cs typeface="Times New Roman" panose="02020603050405020304" pitchFamily="18" charset="0"/>
              </a:rPr>
              <a:t>To analyze the pricing trends of laptops across different brands and configurations</a:t>
            </a:r>
          </a:p>
          <a:p>
            <a:pPr marL="342900" indent="-342900">
              <a:lnSpc>
                <a:spcPct val="150000"/>
              </a:lnSpc>
              <a:buAutoNum type="arabicPeriod"/>
            </a:pPr>
            <a:r>
              <a:rPr lang="en-US" sz="1800" dirty="0">
                <a:latin typeface="Times New Roman" panose="02020603050405020304" pitchFamily="18" charset="0"/>
                <a:cs typeface="Times New Roman" panose="02020603050405020304" pitchFamily="18" charset="0"/>
              </a:rPr>
              <a:t>To compare brand-wise performance based on customer ratings and pricing</a:t>
            </a:r>
          </a:p>
          <a:p>
            <a:pPr>
              <a:lnSpc>
                <a:spcPct val="150000"/>
              </a:lnSpc>
            </a:pPr>
            <a:r>
              <a:rPr lang="en-US" sz="1800" dirty="0">
                <a:latin typeface="Times New Roman" panose="02020603050405020304" pitchFamily="18" charset="0"/>
                <a:cs typeface="Times New Roman" panose="02020603050405020304" pitchFamily="18" charset="0"/>
              </a:rPr>
              <a:t>4.   To identify feature combinations that offer the best value for money</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BD26C9-F84C-9EBB-2583-DE6DC0898852}"/>
              </a:ext>
            </a:extLst>
          </p:cNvPr>
          <p:cNvSpPr txBox="1"/>
          <p:nvPr/>
        </p:nvSpPr>
        <p:spPr>
          <a:xfrm>
            <a:off x="737812" y="417077"/>
            <a:ext cx="6096000" cy="553998"/>
          </a:xfrm>
          <a:prstGeom prst="rect">
            <a:avLst/>
          </a:prstGeom>
          <a:noFill/>
        </p:spPr>
        <p:txBody>
          <a:bodyPr wrap="square">
            <a:spAutoFit/>
          </a:bodyPr>
          <a:lstStyle/>
          <a:p>
            <a:pPr fontAlgn="base"/>
            <a:r>
              <a:rPr lang="en-IN" sz="3000" b="1" dirty="0">
                <a:solidFill>
                  <a:srgbClr val="FF0000"/>
                </a:solidFill>
                <a:latin typeface="Times New Roman" panose="02020603050405020304" pitchFamily="18" charset="0"/>
                <a:cs typeface="Times New Roman" panose="02020603050405020304" pitchFamily="18" charset="0"/>
              </a:rPr>
              <a:t>Dataset Overview </a:t>
            </a:r>
          </a:p>
        </p:txBody>
      </p:sp>
      <p:sp>
        <p:nvSpPr>
          <p:cNvPr id="4" name="TextBox 3">
            <a:extLst>
              <a:ext uri="{FF2B5EF4-FFF2-40B4-BE49-F238E27FC236}">
                <a16:creationId xmlns:a16="http://schemas.microsoft.com/office/drawing/2014/main" id="{F92CB753-9F3E-7819-80A8-03086C0BF404}"/>
              </a:ext>
            </a:extLst>
          </p:cNvPr>
          <p:cNvSpPr txBox="1"/>
          <p:nvPr/>
        </p:nvSpPr>
        <p:spPr>
          <a:xfrm>
            <a:off x="855406" y="1045731"/>
            <a:ext cx="10598782" cy="4985980"/>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1. Dataset Source:</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The dataset was </a:t>
            </a:r>
            <a:r>
              <a:rPr lang="en-US" sz="1800" b="1" dirty="0">
                <a:latin typeface="Times New Roman" panose="02020603050405020304" pitchFamily="18" charset="0"/>
                <a:cs typeface="Times New Roman" panose="02020603050405020304" pitchFamily="18" charset="0"/>
              </a:rPr>
              <a:t>scraped from Flipkart.com</a:t>
            </a:r>
            <a:r>
              <a:rPr lang="en-US" sz="1800" dirty="0">
                <a:latin typeface="Times New Roman" panose="02020603050405020304" pitchFamily="18" charset="0"/>
                <a:cs typeface="Times New Roman" panose="02020603050405020304" pitchFamily="18" charset="0"/>
              </a:rPr>
              <a:t> using </a:t>
            </a:r>
            <a:r>
              <a:rPr lang="en-US" sz="1800" b="1" dirty="0">
                <a:latin typeface="Times New Roman" panose="02020603050405020304" pitchFamily="18" charset="0"/>
                <a:cs typeface="Times New Roman" panose="02020603050405020304" pitchFamily="18" charset="0"/>
              </a:rPr>
              <a:t>Beautiful Soup</a:t>
            </a:r>
            <a:r>
              <a:rPr lang="en-US" sz="1800" dirty="0">
                <a:latin typeface="Times New Roman" panose="02020603050405020304" pitchFamily="18" charset="0"/>
                <a:cs typeface="Times New Roman" panose="02020603050405020304" pitchFamily="18" charset="0"/>
              </a:rPr>
              <a:t> (web scraping).</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Data was collected directly from Flipkart website to perform Exploratory Data Analysis (EDA).</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2. Dataset Shape:</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Contains </a:t>
            </a:r>
            <a:r>
              <a:rPr lang="en-US" sz="1800" b="1" dirty="0">
                <a:latin typeface="Times New Roman" panose="02020603050405020304" pitchFamily="18" charset="0"/>
                <a:cs typeface="Times New Roman" panose="02020603050405020304" pitchFamily="18" charset="0"/>
              </a:rPr>
              <a:t>24 rows</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8 columns</a:t>
            </a:r>
            <a:r>
              <a:rPr lang="en-US" sz="18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Each row represents a unique entry.</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3. Key Columns:</a:t>
            </a:r>
          </a:p>
          <a:p>
            <a:pPr marL="342900" indent="-342900" latinLnBrk="1">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Laptop Name </a:t>
            </a:r>
          </a:p>
          <a:p>
            <a:pPr marL="342900" indent="-342900" latinLnBrk="1">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Price              </a:t>
            </a:r>
          </a:p>
          <a:p>
            <a:pPr marL="342900" indent="-342900" latinLnBrk="1">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Rating </a:t>
            </a:r>
          </a:p>
          <a:p>
            <a:pPr marL="342900" indent="-342900" latinLnBrk="1">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Reviews </a:t>
            </a:r>
          </a:p>
          <a:p>
            <a:pPr marL="342900" indent="-342900" latinLnBrk="1">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Processor </a:t>
            </a:r>
          </a:p>
          <a:p>
            <a:pPr marL="342900" indent="-342900" latinLnBrk="1">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Ram </a:t>
            </a:r>
          </a:p>
          <a:p>
            <a:pPr marL="342900" indent="-342900" latinLnBrk="1">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Windows </a:t>
            </a:r>
          </a:p>
          <a:p>
            <a:pPr marL="342900" indent="-342900" latinLnBrk="1">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Display</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3686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16534E8-C5AD-F551-76E1-1096A999BFE9}"/>
              </a:ext>
            </a:extLst>
          </p:cNvPr>
          <p:cNvSpPr txBox="1"/>
          <p:nvPr/>
        </p:nvSpPr>
        <p:spPr>
          <a:xfrm>
            <a:off x="777141" y="621229"/>
            <a:ext cx="6096000" cy="468462"/>
          </a:xfrm>
          <a:prstGeom prst="rect">
            <a:avLst/>
          </a:prstGeom>
          <a:noFill/>
        </p:spPr>
        <p:txBody>
          <a:bodyPr wrap="square">
            <a:spAutoFit/>
          </a:bodyPr>
          <a:lstStyle/>
          <a:p>
            <a:pPr marL="0" marR="0" lvl="0" indent="0" algn="l" rtl="0">
              <a:lnSpc>
                <a:spcPct val="80000"/>
              </a:lnSpc>
              <a:spcBef>
                <a:spcPts val="0"/>
              </a:spcBef>
              <a:spcAft>
                <a:spcPts val="0"/>
              </a:spcAft>
              <a:buClr>
                <a:srgbClr val="FF0000"/>
              </a:buClr>
              <a:buSzPts val="3200"/>
              <a:buFont typeface="Lato Black"/>
              <a:buNone/>
            </a:pPr>
            <a:r>
              <a:rPr lang="en-IN" sz="3000" b="1" i="0" u="none" strike="noStrike" cap="none" dirty="0">
                <a:solidFill>
                  <a:srgbClr val="FF0000"/>
                </a:solidFill>
                <a:latin typeface="Times New Roman" panose="02020603050405020304" pitchFamily="18" charset="0"/>
                <a:ea typeface="Lato Black"/>
                <a:cs typeface="Times New Roman" panose="02020603050405020304" pitchFamily="18" charset="0"/>
                <a:sym typeface="Lato Black"/>
              </a:rPr>
              <a:t>Tools Used In This Project </a:t>
            </a:r>
            <a:endParaRPr lang="en-IN" sz="3000" b="1" i="0" u="none" strike="noStrike" cap="none" dirty="0">
              <a:solidFill>
                <a:srgbClr val="FF0000"/>
              </a:solidFill>
              <a:latin typeface="Calibri"/>
              <a:ea typeface="Calibri"/>
              <a:cs typeface="Calibri"/>
              <a:sym typeface="Calibri"/>
            </a:endParaRPr>
          </a:p>
        </p:txBody>
      </p:sp>
      <p:sp>
        <p:nvSpPr>
          <p:cNvPr id="3" name="TextBox 2">
            <a:extLst>
              <a:ext uri="{FF2B5EF4-FFF2-40B4-BE49-F238E27FC236}">
                <a16:creationId xmlns:a16="http://schemas.microsoft.com/office/drawing/2014/main" id="{33F1DCBE-092B-B8DD-5F28-C0AAC62FFE52}"/>
              </a:ext>
            </a:extLst>
          </p:cNvPr>
          <p:cNvSpPr txBox="1"/>
          <p:nvPr/>
        </p:nvSpPr>
        <p:spPr>
          <a:xfrm>
            <a:off x="1367076" y="1536163"/>
            <a:ext cx="4148822" cy="1015663"/>
          </a:xfrm>
          <a:prstGeom prst="rect">
            <a:avLst/>
          </a:prstGeom>
          <a:noFill/>
        </p:spPr>
        <p:txBody>
          <a:bodyPr wrap="square">
            <a:spAutoFit/>
          </a:bodyPr>
          <a:lstStyle/>
          <a:p>
            <a:pPr>
              <a:buNone/>
            </a:pPr>
            <a:r>
              <a:rPr lang="en-IN" sz="2000" dirty="0">
                <a:latin typeface="Times New Roman" panose="02020603050405020304" pitchFamily="18" charset="0"/>
                <a:cs typeface="Times New Roman" panose="02020603050405020304" pitchFamily="18" charset="0"/>
              </a:rPr>
              <a:t>1. Programming Environment:</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Python (Version 3.12)</a:t>
            </a:r>
          </a:p>
          <a:p>
            <a:pPr>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Jupyter</a:t>
            </a:r>
            <a:r>
              <a:rPr lang="en-IN" sz="2000" dirty="0">
                <a:latin typeface="Times New Roman" panose="02020603050405020304" pitchFamily="18" charset="0"/>
                <a:cs typeface="Times New Roman" panose="02020603050405020304" pitchFamily="18" charset="0"/>
              </a:rPr>
              <a:t> Notebook</a:t>
            </a:r>
          </a:p>
        </p:txBody>
      </p:sp>
      <p:sp>
        <p:nvSpPr>
          <p:cNvPr id="7" name="TextBox 6">
            <a:extLst>
              <a:ext uri="{FF2B5EF4-FFF2-40B4-BE49-F238E27FC236}">
                <a16:creationId xmlns:a16="http://schemas.microsoft.com/office/drawing/2014/main" id="{AAE9E8D6-5923-5967-FE4E-65B27ADF5B6C}"/>
              </a:ext>
            </a:extLst>
          </p:cNvPr>
          <p:cNvSpPr txBox="1"/>
          <p:nvPr/>
        </p:nvSpPr>
        <p:spPr>
          <a:xfrm>
            <a:off x="6744928" y="2883976"/>
            <a:ext cx="3559277" cy="1015663"/>
          </a:xfrm>
          <a:prstGeom prst="rect">
            <a:avLst/>
          </a:prstGeom>
          <a:noFill/>
        </p:spPr>
        <p:txBody>
          <a:bodyPr wrap="square">
            <a:spAutoFit/>
          </a:bodyPr>
          <a:lstStyle/>
          <a:p>
            <a:r>
              <a:rPr lang="en-IN" sz="2000" dirty="0">
                <a:solidFill>
                  <a:srgbClr val="FF0000"/>
                </a:solidFill>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For Data Visualization:</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Matplotlib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Seaborn </a:t>
            </a:r>
          </a:p>
        </p:txBody>
      </p:sp>
      <p:sp>
        <p:nvSpPr>
          <p:cNvPr id="9" name="TextBox 8">
            <a:extLst>
              <a:ext uri="{FF2B5EF4-FFF2-40B4-BE49-F238E27FC236}">
                <a16:creationId xmlns:a16="http://schemas.microsoft.com/office/drawing/2014/main" id="{A55182DA-FCAF-0BD7-7309-C3CF33718C96}"/>
              </a:ext>
            </a:extLst>
          </p:cNvPr>
          <p:cNvSpPr txBox="1"/>
          <p:nvPr/>
        </p:nvSpPr>
        <p:spPr>
          <a:xfrm>
            <a:off x="6744929" y="1536163"/>
            <a:ext cx="2654710" cy="1015663"/>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 For Data Analysis: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Pandas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NumPy </a:t>
            </a:r>
          </a:p>
        </p:txBody>
      </p:sp>
      <p:sp>
        <p:nvSpPr>
          <p:cNvPr id="11" name="TextBox 10">
            <a:extLst>
              <a:ext uri="{FF2B5EF4-FFF2-40B4-BE49-F238E27FC236}">
                <a16:creationId xmlns:a16="http://schemas.microsoft.com/office/drawing/2014/main" id="{80847A36-645B-27A7-52E5-DA6678E54CAE}"/>
              </a:ext>
            </a:extLst>
          </p:cNvPr>
          <p:cNvSpPr txBox="1"/>
          <p:nvPr/>
        </p:nvSpPr>
        <p:spPr>
          <a:xfrm>
            <a:off x="1367075" y="2883976"/>
            <a:ext cx="4296305" cy="1938992"/>
          </a:xfrm>
          <a:prstGeom prst="rect">
            <a:avLst/>
          </a:prstGeom>
          <a:noFill/>
        </p:spPr>
        <p:txBody>
          <a:bodyPr wrap="square">
            <a:spAutoFit/>
          </a:bodyPr>
          <a:lstStyle/>
          <a:p>
            <a:pPr>
              <a:buNone/>
            </a:pPr>
            <a:r>
              <a:rPr lang="en-IN" sz="2000" dirty="0">
                <a:latin typeface="Times New Roman" panose="02020603050405020304" pitchFamily="18" charset="0"/>
                <a:cs typeface="Times New Roman" panose="02020603050405020304" pitchFamily="18" charset="0"/>
              </a:rPr>
              <a:t>2.Python Libraries:</a:t>
            </a:r>
          </a:p>
          <a:p>
            <a:pPr>
              <a:buNone/>
            </a:pPr>
            <a:r>
              <a:rPr lang="en-IN" sz="2000" dirty="0">
                <a:latin typeface="Times New Roman" panose="02020603050405020304" pitchFamily="18" charset="0"/>
                <a:cs typeface="Times New Roman" panose="02020603050405020304" pitchFamily="18" charset="0"/>
              </a:rPr>
              <a:t>🔹 For Data Extraction:</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Beautiful Soup</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 (Regular Expressions)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Pandas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NumPy </a:t>
            </a:r>
          </a:p>
        </p:txBody>
      </p:sp>
    </p:spTree>
    <p:extLst>
      <p:ext uri="{BB962C8B-B14F-4D97-AF65-F5344CB8AC3E}">
        <p14:creationId xmlns:p14="http://schemas.microsoft.com/office/powerpoint/2010/main" val="2634975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9F2BAA-92A5-F310-A199-8FDE6D6A5B90}"/>
              </a:ext>
            </a:extLst>
          </p:cNvPr>
          <p:cNvSpPr txBox="1"/>
          <p:nvPr/>
        </p:nvSpPr>
        <p:spPr>
          <a:xfrm>
            <a:off x="648929" y="396719"/>
            <a:ext cx="6096000" cy="523220"/>
          </a:xfrm>
          <a:prstGeom prst="rect">
            <a:avLst/>
          </a:prstGeom>
          <a:noFill/>
        </p:spPr>
        <p:txBody>
          <a:bodyPr wrap="square">
            <a:spAutoFit/>
          </a:bodyPr>
          <a:lstStyle/>
          <a:p>
            <a:r>
              <a:rPr lang="en-US" sz="2800" b="1" dirty="0">
                <a:solidFill>
                  <a:srgbClr val="FF0000"/>
                </a:solidFill>
                <a:latin typeface="Times New Roman" panose="02020603050405020304" pitchFamily="18" charset="0"/>
                <a:cs typeface="Times New Roman" panose="02020603050405020304" pitchFamily="18" charset="0"/>
              </a:rPr>
              <a:t>Data Before Cleaning:</a:t>
            </a:r>
            <a:endParaRPr lang="en-IN" sz="2800" b="1" dirty="0">
              <a:solidFill>
                <a:srgbClr val="FF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95AE90D8-6B31-648E-1B36-1B62DF6456D3}"/>
              </a:ext>
            </a:extLst>
          </p:cNvPr>
          <p:cNvPicPr>
            <a:picLocks noChangeAspect="1"/>
          </p:cNvPicPr>
          <p:nvPr/>
        </p:nvPicPr>
        <p:blipFill>
          <a:blip r:embed="rId2"/>
          <a:srcRect b="5629"/>
          <a:stretch>
            <a:fillRect/>
          </a:stretch>
        </p:blipFill>
        <p:spPr>
          <a:xfrm>
            <a:off x="1435509" y="988765"/>
            <a:ext cx="8952439" cy="5058074"/>
          </a:xfrm>
          <a:prstGeom prst="rect">
            <a:avLst/>
          </a:prstGeom>
        </p:spPr>
      </p:pic>
    </p:spTree>
    <p:extLst>
      <p:ext uri="{BB962C8B-B14F-4D97-AF65-F5344CB8AC3E}">
        <p14:creationId xmlns:p14="http://schemas.microsoft.com/office/powerpoint/2010/main" val="1468725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AC0C7-27F7-A466-9C44-A0DA0A65AAC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3525893-DE83-2331-934E-00EECF80ACDD}"/>
              </a:ext>
            </a:extLst>
          </p:cNvPr>
          <p:cNvSpPr txBox="1"/>
          <p:nvPr/>
        </p:nvSpPr>
        <p:spPr>
          <a:xfrm>
            <a:off x="737812" y="387580"/>
            <a:ext cx="6096000" cy="438582"/>
          </a:xfrm>
          <a:prstGeom prst="rect">
            <a:avLst/>
          </a:prstGeom>
          <a:noFill/>
        </p:spPr>
        <p:txBody>
          <a:bodyPr wrap="square">
            <a:spAutoFit/>
          </a:bodyPr>
          <a:lstStyle/>
          <a:p>
            <a:pPr lvl="0" algn="just">
              <a:lnSpc>
                <a:spcPct val="90000"/>
              </a:lnSpc>
              <a:spcBef>
                <a:spcPts val="1000"/>
              </a:spcBef>
              <a:buClr>
                <a:schemeClr val="dk1"/>
              </a:buClr>
              <a:buSzPct val="100000"/>
            </a:pPr>
            <a:r>
              <a:rPr lang="en-US" sz="2500" b="1" dirty="0">
                <a:solidFill>
                  <a:srgbClr val="FF0000"/>
                </a:solidFill>
                <a:latin typeface="Times New Roman" panose="02020603050405020304" pitchFamily="18" charset="0"/>
                <a:cs typeface="Times New Roman" panose="02020603050405020304" pitchFamily="18" charset="0"/>
              </a:rPr>
              <a:t>Data After Cleaning</a:t>
            </a:r>
            <a:endParaRPr lang="en-IN" sz="25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6FE6DAB-7DB6-A60F-78D7-CB3266BF1D5F}"/>
              </a:ext>
            </a:extLst>
          </p:cNvPr>
          <p:cNvPicPr>
            <a:picLocks noChangeAspect="1"/>
          </p:cNvPicPr>
          <p:nvPr/>
        </p:nvPicPr>
        <p:blipFill>
          <a:blip r:embed="rId2"/>
          <a:srcRect l="1635" t="45"/>
          <a:stretch>
            <a:fillRect/>
          </a:stretch>
        </p:blipFill>
        <p:spPr>
          <a:xfrm>
            <a:off x="1976675" y="951860"/>
            <a:ext cx="6882189" cy="4973943"/>
          </a:xfrm>
          <a:prstGeom prst="rect">
            <a:avLst/>
          </a:prstGeom>
        </p:spPr>
      </p:pic>
    </p:spTree>
    <p:extLst>
      <p:ext uri="{BB962C8B-B14F-4D97-AF65-F5344CB8AC3E}">
        <p14:creationId xmlns:p14="http://schemas.microsoft.com/office/powerpoint/2010/main" val="888907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917E07-26CA-E62C-F810-86182A8501CA}"/>
              </a:ext>
            </a:extLst>
          </p:cNvPr>
          <p:cNvPicPr>
            <a:picLocks noChangeAspect="1"/>
          </p:cNvPicPr>
          <p:nvPr/>
        </p:nvPicPr>
        <p:blipFill>
          <a:blip r:embed="rId2"/>
          <a:stretch>
            <a:fillRect/>
          </a:stretch>
        </p:blipFill>
        <p:spPr>
          <a:xfrm>
            <a:off x="560438" y="1999518"/>
            <a:ext cx="11385755" cy="2265892"/>
          </a:xfrm>
          <a:prstGeom prst="rect">
            <a:avLst/>
          </a:prstGeom>
        </p:spPr>
      </p:pic>
      <p:sp>
        <p:nvSpPr>
          <p:cNvPr id="5" name="TextBox 4">
            <a:extLst>
              <a:ext uri="{FF2B5EF4-FFF2-40B4-BE49-F238E27FC236}">
                <a16:creationId xmlns:a16="http://schemas.microsoft.com/office/drawing/2014/main" id="{61A28FFB-6351-77E8-A8A6-F55E0CC37FD2}"/>
              </a:ext>
            </a:extLst>
          </p:cNvPr>
          <p:cNvSpPr txBox="1"/>
          <p:nvPr/>
        </p:nvSpPr>
        <p:spPr>
          <a:xfrm>
            <a:off x="707921" y="481781"/>
            <a:ext cx="5919020" cy="914674"/>
          </a:xfrm>
          <a:prstGeom prst="rect">
            <a:avLst/>
          </a:prstGeom>
          <a:noFill/>
        </p:spPr>
        <p:txBody>
          <a:bodyPr wrap="square">
            <a:spAutoFit/>
          </a:bodyPr>
          <a:lstStyle/>
          <a:p>
            <a:pPr>
              <a:lnSpc>
                <a:spcPts val="7680"/>
              </a:lnSpc>
            </a:pPr>
            <a:r>
              <a:rPr lang="en-US" sz="2800" b="1" dirty="0">
                <a:solidFill>
                  <a:srgbClr val="FF0000"/>
                </a:solidFill>
                <a:latin typeface="Times New Roman" panose="02020603050405020304" pitchFamily="18" charset="0"/>
                <a:cs typeface="Times New Roman" panose="02020603050405020304" pitchFamily="18" charset="0"/>
              </a:rPr>
              <a:t>Statistics of Columns</a:t>
            </a:r>
          </a:p>
        </p:txBody>
      </p:sp>
    </p:spTree>
    <p:extLst>
      <p:ext uri="{BB962C8B-B14F-4D97-AF65-F5344CB8AC3E}">
        <p14:creationId xmlns:p14="http://schemas.microsoft.com/office/powerpoint/2010/main" val="3480832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D6F06-23A7-3B7E-76ED-56DD01AB868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B00F4BD-0A13-1132-97F6-FC6833AD3AF7}"/>
              </a:ext>
            </a:extLst>
          </p:cNvPr>
          <p:cNvSpPr txBox="1"/>
          <p:nvPr/>
        </p:nvSpPr>
        <p:spPr>
          <a:xfrm>
            <a:off x="737812" y="417078"/>
            <a:ext cx="9074782" cy="437043"/>
          </a:xfrm>
          <a:prstGeom prst="rect">
            <a:avLst/>
          </a:prstGeom>
          <a:noFill/>
        </p:spPr>
        <p:txBody>
          <a:bodyPr wrap="square">
            <a:spAutoFit/>
          </a:bodyPr>
          <a:lstStyle/>
          <a:p>
            <a:pPr lvl="0">
              <a:lnSpc>
                <a:spcPct val="80000"/>
              </a:lnSpc>
              <a:buClr>
                <a:srgbClr val="FF0000"/>
              </a:buClr>
              <a:buSzPts val="3200"/>
            </a:pPr>
            <a:r>
              <a:rPr lang="en-US" sz="2800" b="1" dirty="0">
                <a:solidFill>
                  <a:srgbClr val="FF0000"/>
                </a:solidFill>
                <a:latin typeface="Times New Roman" panose="02020603050405020304" pitchFamily="18" charset="0"/>
                <a:cs typeface="Times New Roman" panose="02020603050405020304" pitchFamily="18" charset="0"/>
              </a:rPr>
              <a:t>How many features(Columns) do you have?  </a:t>
            </a:r>
            <a:endParaRPr lang="en-IN" sz="2800" b="1"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
        <p:nvSpPr>
          <p:cNvPr id="3" name="TextBox 2">
            <a:extLst>
              <a:ext uri="{FF2B5EF4-FFF2-40B4-BE49-F238E27FC236}">
                <a16:creationId xmlns:a16="http://schemas.microsoft.com/office/drawing/2014/main" id="{F48FAAC5-FD99-1B2C-9601-D47A26CF5A67}"/>
              </a:ext>
            </a:extLst>
          </p:cNvPr>
          <p:cNvSpPr txBox="1"/>
          <p:nvPr/>
        </p:nvSpPr>
        <p:spPr>
          <a:xfrm>
            <a:off x="855406" y="3102138"/>
            <a:ext cx="8229600" cy="523220"/>
          </a:xfrm>
          <a:prstGeom prst="rect">
            <a:avLst/>
          </a:prstGeom>
          <a:noFill/>
        </p:spPr>
        <p:txBody>
          <a:bodyPr wrap="square">
            <a:spAutoFit/>
          </a:bodyPr>
          <a:lstStyle/>
          <a:p>
            <a:r>
              <a:rPr lang="en-US" sz="2800" b="1" dirty="0">
                <a:solidFill>
                  <a:srgbClr val="FF0000"/>
                </a:solidFill>
                <a:latin typeface="Times New Roman" panose="02020603050405020304" pitchFamily="18" charset="0"/>
                <a:cs typeface="Times New Roman" panose="02020603050405020304" pitchFamily="18" charset="0"/>
              </a:rPr>
              <a:t>How many observations(rows) do you have?</a:t>
            </a:r>
            <a:endParaRPr lang="en-IN" sz="28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C3D3089-D35F-F2AF-C773-214D9256864F}"/>
              </a:ext>
            </a:extLst>
          </p:cNvPr>
          <p:cNvPicPr>
            <a:picLocks noChangeAspect="1"/>
          </p:cNvPicPr>
          <p:nvPr/>
        </p:nvPicPr>
        <p:blipFill>
          <a:blip r:embed="rId2"/>
          <a:stretch>
            <a:fillRect/>
          </a:stretch>
        </p:blipFill>
        <p:spPr>
          <a:xfrm>
            <a:off x="884902" y="1354547"/>
            <a:ext cx="6600825" cy="1051363"/>
          </a:xfrm>
          <a:prstGeom prst="rect">
            <a:avLst/>
          </a:prstGeom>
        </p:spPr>
      </p:pic>
      <p:pic>
        <p:nvPicPr>
          <p:cNvPr id="5" name="Picture 4">
            <a:extLst>
              <a:ext uri="{FF2B5EF4-FFF2-40B4-BE49-F238E27FC236}">
                <a16:creationId xmlns:a16="http://schemas.microsoft.com/office/drawing/2014/main" id="{5608044F-4663-1E4D-419E-256A6395242D}"/>
              </a:ext>
            </a:extLst>
          </p:cNvPr>
          <p:cNvPicPr>
            <a:picLocks noChangeAspect="1"/>
          </p:cNvPicPr>
          <p:nvPr/>
        </p:nvPicPr>
        <p:blipFill>
          <a:blip r:embed="rId3"/>
          <a:srcRect r="11123"/>
          <a:stretch>
            <a:fillRect/>
          </a:stretch>
        </p:blipFill>
        <p:spPr>
          <a:xfrm>
            <a:off x="884902" y="3962244"/>
            <a:ext cx="6602310" cy="1189858"/>
          </a:xfrm>
          <a:prstGeom prst="rect">
            <a:avLst/>
          </a:prstGeom>
        </p:spPr>
      </p:pic>
    </p:spTree>
    <p:extLst>
      <p:ext uri="{BB962C8B-B14F-4D97-AF65-F5344CB8AC3E}">
        <p14:creationId xmlns:p14="http://schemas.microsoft.com/office/powerpoint/2010/main" val="418048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909B4-F542-34BA-D88C-ED8946959FD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5D9D5AF-E613-79BD-A446-8102470177D1}"/>
              </a:ext>
            </a:extLst>
          </p:cNvPr>
          <p:cNvSpPr txBox="1"/>
          <p:nvPr/>
        </p:nvSpPr>
        <p:spPr>
          <a:xfrm>
            <a:off x="737812" y="417078"/>
            <a:ext cx="9074782" cy="400110"/>
          </a:xfrm>
          <a:prstGeom prst="rect">
            <a:avLst/>
          </a:prstGeom>
          <a:noFill/>
        </p:spPr>
        <p:txBody>
          <a:bodyPr wrap="square">
            <a:spAutoFit/>
          </a:bodyPr>
          <a:lstStyle/>
          <a:p>
            <a:pPr lvl="0">
              <a:lnSpc>
                <a:spcPct val="80000"/>
              </a:lnSpc>
              <a:buClr>
                <a:srgbClr val="FF0000"/>
              </a:buClr>
              <a:buSzPts val="3200"/>
            </a:pPr>
            <a:r>
              <a:rPr lang="en-US" sz="2500" b="1" dirty="0">
                <a:solidFill>
                  <a:srgbClr val="FF0000"/>
                </a:solidFill>
                <a:latin typeface="Times New Roman" panose="02020603050405020304" pitchFamily="18" charset="0"/>
                <a:cs typeface="Times New Roman" panose="02020603050405020304" pitchFamily="18" charset="0"/>
              </a:rPr>
              <a:t>What is the data type of each feature(Columns)? </a:t>
            </a:r>
            <a:endParaRPr lang="en-IN" sz="2500" b="1"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
        <p:nvSpPr>
          <p:cNvPr id="3" name="TextBox 2">
            <a:extLst>
              <a:ext uri="{FF2B5EF4-FFF2-40B4-BE49-F238E27FC236}">
                <a16:creationId xmlns:a16="http://schemas.microsoft.com/office/drawing/2014/main" id="{94D6E13D-9A6D-CA8D-20BC-E06F49742AD8}"/>
              </a:ext>
            </a:extLst>
          </p:cNvPr>
          <p:cNvSpPr txBox="1"/>
          <p:nvPr/>
        </p:nvSpPr>
        <p:spPr>
          <a:xfrm>
            <a:off x="825909" y="3264590"/>
            <a:ext cx="8229600" cy="477054"/>
          </a:xfrm>
          <a:prstGeom prst="rect">
            <a:avLst/>
          </a:prstGeom>
          <a:noFill/>
        </p:spPr>
        <p:txBody>
          <a:bodyPr wrap="square">
            <a:spAutoFit/>
          </a:bodyPr>
          <a:lstStyle/>
          <a:p>
            <a:r>
              <a:rPr lang="en-US" sz="2500" b="1" dirty="0">
                <a:solidFill>
                  <a:srgbClr val="FF0000"/>
                </a:solidFill>
                <a:latin typeface="Times New Roman" panose="02020603050405020304" pitchFamily="18" charset="0"/>
                <a:cs typeface="Times New Roman" panose="02020603050405020304" pitchFamily="18" charset="0"/>
              </a:rPr>
              <a:t>How many missing values are there?</a:t>
            </a:r>
            <a:endParaRPr lang="en-IN" sz="2500" b="1" dirty="0">
              <a:solidFill>
                <a:srgbClr val="FF0000"/>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B0247D34-83C2-6068-3E70-F4AA86F2A381}"/>
              </a:ext>
            </a:extLst>
          </p:cNvPr>
          <p:cNvPicPr>
            <a:picLocks noChangeAspect="1"/>
          </p:cNvPicPr>
          <p:nvPr/>
        </p:nvPicPr>
        <p:blipFill>
          <a:blip r:embed="rId2"/>
          <a:srcRect r="18711"/>
          <a:stretch>
            <a:fillRect/>
          </a:stretch>
        </p:blipFill>
        <p:spPr>
          <a:xfrm>
            <a:off x="1187552" y="854121"/>
            <a:ext cx="4908448" cy="2346443"/>
          </a:xfrm>
          <a:prstGeom prst="rect">
            <a:avLst/>
          </a:prstGeom>
        </p:spPr>
      </p:pic>
      <p:pic>
        <p:nvPicPr>
          <p:cNvPr id="7" name="Picture 6">
            <a:extLst>
              <a:ext uri="{FF2B5EF4-FFF2-40B4-BE49-F238E27FC236}">
                <a16:creationId xmlns:a16="http://schemas.microsoft.com/office/drawing/2014/main" id="{45F5218E-EAF6-4BC0-946C-96C239A9C2B8}"/>
              </a:ext>
            </a:extLst>
          </p:cNvPr>
          <p:cNvPicPr>
            <a:picLocks noChangeAspect="1"/>
          </p:cNvPicPr>
          <p:nvPr/>
        </p:nvPicPr>
        <p:blipFill>
          <a:blip r:embed="rId3"/>
          <a:stretch>
            <a:fillRect/>
          </a:stretch>
        </p:blipFill>
        <p:spPr>
          <a:xfrm>
            <a:off x="1352550" y="3805670"/>
            <a:ext cx="5146573" cy="2363051"/>
          </a:xfrm>
          <a:prstGeom prst="rect">
            <a:avLst/>
          </a:prstGeom>
        </p:spPr>
      </p:pic>
    </p:spTree>
    <p:extLst>
      <p:ext uri="{BB962C8B-B14F-4D97-AF65-F5344CB8AC3E}">
        <p14:creationId xmlns:p14="http://schemas.microsoft.com/office/powerpoint/2010/main" val="2555178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29C2D7-4908-F80B-3418-A9035A87F5F5}"/>
              </a:ext>
            </a:extLst>
          </p:cNvPr>
          <p:cNvPicPr>
            <a:picLocks noChangeAspect="1"/>
          </p:cNvPicPr>
          <p:nvPr/>
        </p:nvPicPr>
        <p:blipFill>
          <a:blip r:embed="rId2"/>
          <a:srcRect b="3348"/>
          <a:stretch>
            <a:fillRect/>
          </a:stretch>
        </p:blipFill>
        <p:spPr>
          <a:xfrm>
            <a:off x="773676" y="1346174"/>
            <a:ext cx="10503924" cy="4165652"/>
          </a:xfrm>
          <a:prstGeom prst="rect">
            <a:avLst/>
          </a:prstGeom>
        </p:spPr>
      </p:pic>
      <p:sp>
        <p:nvSpPr>
          <p:cNvPr id="11" name="TextBox 10">
            <a:extLst>
              <a:ext uri="{FF2B5EF4-FFF2-40B4-BE49-F238E27FC236}">
                <a16:creationId xmlns:a16="http://schemas.microsoft.com/office/drawing/2014/main" id="{C4790A26-FEFD-8EDA-9B7A-389901936B15}"/>
              </a:ext>
            </a:extLst>
          </p:cNvPr>
          <p:cNvSpPr txBox="1"/>
          <p:nvPr/>
        </p:nvSpPr>
        <p:spPr>
          <a:xfrm>
            <a:off x="773676" y="554035"/>
            <a:ext cx="6096000" cy="477054"/>
          </a:xfrm>
          <a:prstGeom prst="rect">
            <a:avLst/>
          </a:prstGeom>
          <a:noFill/>
        </p:spPr>
        <p:txBody>
          <a:bodyPr wrap="square">
            <a:spAutoFit/>
          </a:bodyPr>
          <a:lstStyle/>
          <a:p>
            <a:r>
              <a:rPr lang="en-US" sz="2500" b="1" dirty="0">
                <a:solidFill>
                  <a:srgbClr val="FF0000"/>
                </a:solidFill>
                <a:latin typeface="Times New Roman" panose="02020603050405020304" pitchFamily="18" charset="0"/>
                <a:cs typeface="Times New Roman" panose="02020603050405020304" pitchFamily="18" charset="0"/>
              </a:rPr>
              <a:t>Extracting more columns</a:t>
            </a:r>
            <a:endParaRPr lang="en-IN" sz="25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3682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6C7D49-224B-3B63-5F8B-975C3681A528}"/>
              </a:ext>
            </a:extLst>
          </p:cNvPr>
          <p:cNvPicPr>
            <a:picLocks noChangeAspect="1"/>
          </p:cNvPicPr>
          <p:nvPr/>
        </p:nvPicPr>
        <p:blipFill>
          <a:blip r:embed="rId2"/>
          <a:srcRect t="1244"/>
          <a:stretch>
            <a:fillRect/>
          </a:stretch>
        </p:blipFill>
        <p:spPr>
          <a:xfrm>
            <a:off x="657072" y="1632154"/>
            <a:ext cx="5718073" cy="3257389"/>
          </a:xfrm>
          <a:prstGeom prst="rect">
            <a:avLst/>
          </a:prstGeom>
        </p:spPr>
      </p:pic>
      <p:pic>
        <p:nvPicPr>
          <p:cNvPr id="5" name="Picture 4">
            <a:extLst>
              <a:ext uri="{FF2B5EF4-FFF2-40B4-BE49-F238E27FC236}">
                <a16:creationId xmlns:a16="http://schemas.microsoft.com/office/drawing/2014/main" id="{1963EBFE-58B6-8003-B581-F0DFCA67C260}"/>
              </a:ext>
            </a:extLst>
          </p:cNvPr>
          <p:cNvPicPr>
            <a:picLocks noChangeAspect="1"/>
          </p:cNvPicPr>
          <p:nvPr/>
        </p:nvPicPr>
        <p:blipFill>
          <a:blip r:embed="rId3"/>
          <a:srcRect l="1733"/>
          <a:stretch>
            <a:fillRect/>
          </a:stretch>
        </p:blipFill>
        <p:spPr>
          <a:xfrm>
            <a:off x="6695768" y="1563328"/>
            <a:ext cx="4839160" cy="3810547"/>
          </a:xfrm>
          <a:prstGeom prst="rect">
            <a:avLst/>
          </a:prstGeom>
        </p:spPr>
      </p:pic>
      <p:sp>
        <p:nvSpPr>
          <p:cNvPr id="8" name="TextBox 7">
            <a:extLst>
              <a:ext uri="{FF2B5EF4-FFF2-40B4-BE49-F238E27FC236}">
                <a16:creationId xmlns:a16="http://schemas.microsoft.com/office/drawing/2014/main" id="{B141AC40-EF97-969D-8BC8-A507FEAE96F7}"/>
              </a:ext>
            </a:extLst>
          </p:cNvPr>
          <p:cNvSpPr txBox="1"/>
          <p:nvPr/>
        </p:nvSpPr>
        <p:spPr>
          <a:xfrm>
            <a:off x="599768" y="760512"/>
            <a:ext cx="6096000" cy="477054"/>
          </a:xfrm>
          <a:prstGeom prst="rect">
            <a:avLst/>
          </a:prstGeom>
          <a:noFill/>
        </p:spPr>
        <p:txBody>
          <a:bodyPr wrap="square">
            <a:spAutoFit/>
          </a:bodyPr>
          <a:lstStyle/>
          <a:p>
            <a:r>
              <a:rPr lang="en-US" sz="2500" b="1" dirty="0">
                <a:solidFill>
                  <a:srgbClr val="FF0000"/>
                </a:solidFill>
                <a:latin typeface="Times New Roman" panose="02020603050405020304" pitchFamily="18" charset="0"/>
                <a:cs typeface="Times New Roman" panose="02020603050405020304" pitchFamily="18" charset="0"/>
              </a:rPr>
              <a:t>Data types and Missing values</a:t>
            </a:r>
            <a:endParaRPr lang="en-IN" sz="25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4079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A02BEE5-6928-A7B3-8A1A-162D1E7DB0A0}"/>
              </a:ext>
            </a:extLst>
          </p:cNvPr>
          <p:cNvSpPr txBox="1"/>
          <p:nvPr/>
        </p:nvSpPr>
        <p:spPr>
          <a:xfrm>
            <a:off x="737418" y="464402"/>
            <a:ext cx="6508955" cy="405752"/>
          </a:xfrm>
          <a:prstGeom prst="rect">
            <a:avLst/>
          </a:prstGeom>
          <a:noFill/>
        </p:spPr>
        <p:txBody>
          <a:bodyPr wrap="square">
            <a:spAutoFit/>
          </a:bodyPr>
          <a:lstStyle/>
          <a:p>
            <a:pPr marL="0" marR="0" lvl="0" indent="0" algn="l" rtl="0">
              <a:lnSpc>
                <a:spcPct val="80000"/>
              </a:lnSpc>
              <a:spcBef>
                <a:spcPts val="0"/>
              </a:spcBef>
              <a:spcAft>
                <a:spcPts val="0"/>
              </a:spcAft>
              <a:buClr>
                <a:srgbClr val="FF0000"/>
              </a:buClr>
              <a:buSzPts val="3200"/>
              <a:buFont typeface="Lato Black"/>
              <a:buNone/>
            </a:pPr>
            <a:r>
              <a:rPr lang="en-IN" sz="2500" b="1" i="0" u="none" strike="noStrike" cap="none" dirty="0">
                <a:solidFill>
                  <a:srgbClr val="FF0000"/>
                </a:solidFill>
                <a:latin typeface="Times New Roman" panose="02020603050405020304" pitchFamily="18" charset="0"/>
                <a:ea typeface="Lato Black"/>
                <a:cs typeface="Times New Roman" panose="02020603050405020304" pitchFamily="18" charset="0"/>
                <a:sym typeface="Lato Black"/>
              </a:rPr>
              <a:t>Statistical </a:t>
            </a:r>
            <a:r>
              <a:rPr lang="en-IN" sz="2500" b="1" dirty="0">
                <a:solidFill>
                  <a:srgbClr val="FF0000"/>
                </a:solidFill>
                <a:latin typeface="Times New Roman" panose="02020603050405020304" pitchFamily="18" charset="0"/>
                <a:ea typeface="Lato Black"/>
                <a:cs typeface="Times New Roman" panose="02020603050405020304" pitchFamily="18" charset="0"/>
                <a:sym typeface="Lato Black"/>
              </a:rPr>
              <a:t>Summary of </a:t>
            </a:r>
            <a:r>
              <a:rPr lang="en-IN" sz="2500" b="1" i="0" u="none" strike="noStrike" cap="none" dirty="0">
                <a:solidFill>
                  <a:srgbClr val="FF0000"/>
                </a:solidFill>
                <a:latin typeface="Times New Roman" panose="02020603050405020304" pitchFamily="18" charset="0"/>
                <a:ea typeface="Lato Black"/>
                <a:cs typeface="Times New Roman" panose="02020603050405020304" pitchFamily="18" charset="0"/>
                <a:sym typeface="Lato Black"/>
              </a:rPr>
              <a:t>Univariate Analysis</a:t>
            </a:r>
            <a:endParaRPr lang="en-IN" sz="2500" b="1" i="0" u="none" strike="noStrike" cap="none" dirty="0">
              <a:solidFill>
                <a:srgbClr val="FF0000"/>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22FC65AC-D107-76B5-8708-72501894FF82}"/>
              </a:ext>
            </a:extLst>
          </p:cNvPr>
          <p:cNvPicPr>
            <a:picLocks noChangeAspect="1"/>
          </p:cNvPicPr>
          <p:nvPr/>
        </p:nvPicPr>
        <p:blipFill>
          <a:blip r:embed="rId2"/>
          <a:stretch>
            <a:fillRect/>
          </a:stretch>
        </p:blipFill>
        <p:spPr>
          <a:xfrm>
            <a:off x="1877961" y="1283016"/>
            <a:ext cx="6376372" cy="4580679"/>
          </a:xfrm>
          <a:prstGeom prst="rect">
            <a:avLst/>
          </a:prstGeom>
        </p:spPr>
      </p:pic>
    </p:spTree>
    <p:extLst>
      <p:ext uri="{BB962C8B-B14F-4D97-AF65-F5344CB8AC3E}">
        <p14:creationId xmlns:p14="http://schemas.microsoft.com/office/powerpoint/2010/main" val="2967472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CCA39-BBF5-54E8-78E2-69F398F34ED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CC3D4EE-023C-9B93-518C-D7B45F24266D}"/>
              </a:ext>
            </a:extLst>
          </p:cNvPr>
          <p:cNvSpPr txBox="1"/>
          <p:nvPr/>
        </p:nvSpPr>
        <p:spPr>
          <a:xfrm>
            <a:off x="973393" y="385744"/>
            <a:ext cx="6096000" cy="405752"/>
          </a:xfrm>
          <a:prstGeom prst="rect">
            <a:avLst/>
          </a:prstGeom>
          <a:noFill/>
        </p:spPr>
        <p:txBody>
          <a:bodyPr wrap="square">
            <a:spAutoFit/>
          </a:bodyPr>
          <a:lstStyle/>
          <a:p>
            <a:pPr marL="0" marR="0" lvl="0" indent="0" algn="l" rtl="0">
              <a:lnSpc>
                <a:spcPct val="80000"/>
              </a:lnSpc>
              <a:spcBef>
                <a:spcPts val="0"/>
              </a:spcBef>
              <a:spcAft>
                <a:spcPts val="0"/>
              </a:spcAft>
              <a:buClr>
                <a:srgbClr val="FF0000"/>
              </a:buClr>
              <a:buSzPts val="3200"/>
              <a:buFont typeface="Lato Black"/>
              <a:buNone/>
            </a:pPr>
            <a:r>
              <a:rPr lang="en-IN" sz="2500" b="1" i="0" u="none" strike="noStrike" cap="none" dirty="0">
                <a:solidFill>
                  <a:srgbClr val="FF0000"/>
                </a:solidFill>
                <a:latin typeface="Times New Roman" panose="02020603050405020304" pitchFamily="18" charset="0"/>
                <a:ea typeface="Lato Black"/>
                <a:cs typeface="Times New Roman" panose="02020603050405020304" pitchFamily="18" charset="0"/>
                <a:sym typeface="Lato Black"/>
              </a:rPr>
              <a:t>Univariate Analysis</a:t>
            </a:r>
            <a:endParaRPr lang="en-IN" sz="2500" b="1" i="0" u="none" strike="noStrike" cap="none" dirty="0">
              <a:solidFill>
                <a:srgbClr val="FF0000"/>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7D9BBA86-F404-5F6E-7B45-C99E18DECDAA}"/>
              </a:ext>
            </a:extLst>
          </p:cNvPr>
          <p:cNvPicPr>
            <a:picLocks noChangeAspect="1"/>
          </p:cNvPicPr>
          <p:nvPr/>
        </p:nvPicPr>
        <p:blipFill>
          <a:blip r:embed="rId2"/>
          <a:srcRect t="20179"/>
          <a:stretch>
            <a:fillRect/>
          </a:stretch>
        </p:blipFill>
        <p:spPr>
          <a:xfrm>
            <a:off x="2349910" y="993057"/>
            <a:ext cx="8259097" cy="5221139"/>
          </a:xfrm>
          <a:prstGeom prst="rect">
            <a:avLst/>
          </a:prstGeom>
        </p:spPr>
      </p:pic>
    </p:spTree>
    <p:extLst>
      <p:ext uri="{BB962C8B-B14F-4D97-AF65-F5344CB8AC3E}">
        <p14:creationId xmlns:p14="http://schemas.microsoft.com/office/powerpoint/2010/main" val="1611646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3AA9B-1E12-B782-90FC-44DF9FA63AD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A49831B-6061-202A-AE5A-3259FB8B767A}"/>
              </a:ext>
            </a:extLst>
          </p:cNvPr>
          <p:cNvSpPr txBox="1"/>
          <p:nvPr/>
        </p:nvSpPr>
        <p:spPr>
          <a:xfrm>
            <a:off x="973393" y="385744"/>
            <a:ext cx="6096000" cy="405752"/>
          </a:xfrm>
          <a:prstGeom prst="rect">
            <a:avLst/>
          </a:prstGeom>
          <a:noFill/>
        </p:spPr>
        <p:txBody>
          <a:bodyPr wrap="square">
            <a:spAutoFit/>
          </a:bodyPr>
          <a:lstStyle/>
          <a:p>
            <a:pPr marL="0" marR="0" lvl="0" indent="0" algn="l" rtl="0">
              <a:lnSpc>
                <a:spcPct val="80000"/>
              </a:lnSpc>
              <a:spcBef>
                <a:spcPts val="0"/>
              </a:spcBef>
              <a:spcAft>
                <a:spcPts val="0"/>
              </a:spcAft>
              <a:buClr>
                <a:srgbClr val="FF0000"/>
              </a:buClr>
              <a:buSzPts val="3200"/>
              <a:buFont typeface="Lato Black"/>
              <a:buNone/>
            </a:pPr>
            <a:r>
              <a:rPr lang="en-IN" sz="2500" b="1" i="0" u="none" strike="noStrike" cap="none" dirty="0">
                <a:solidFill>
                  <a:srgbClr val="FF0000"/>
                </a:solidFill>
                <a:latin typeface="Times New Roman" panose="02020603050405020304" pitchFamily="18" charset="0"/>
                <a:ea typeface="Lato Black"/>
                <a:cs typeface="Times New Roman" panose="02020603050405020304" pitchFamily="18" charset="0"/>
                <a:sym typeface="Lato Black"/>
              </a:rPr>
              <a:t>Box plot (Numerical columns)</a:t>
            </a:r>
            <a:endParaRPr lang="en-IN" sz="2500" b="1" i="0" u="none" strike="noStrike" cap="none" dirty="0">
              <a:solidFill>
                <a:srgbClr val="FF0000"/>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41BF8932-8CFA-CBE0-B52C-A69031D10D12}"/>
              </a:ext>
            </a:extLst>
          </p:cNvPr>
          <p:cNvPicPr>
            <a:picLocks noChangeAspect="1"/>
          </p:cNvPicPr>
          <p:nvPr/>
        </p:nvPicPr>
        <p:blipFill>
          <a:blip r:embed="rId2"/>
          <a:srcRect t="1534"/>
          <a:stretch>
            <a:fillRect/>
          </a:stretch>
        </p:blipFill>
        <p:spPr>
          <a:xfrm>
            <a:off x="973393" y="987862"/>
            <a:ext cx="8266471" cy="5098583"/>
          </a:xfrm>
          <a:prstGeom prst="rect">
            <a:avLst/>
          </a:prstGeom>
        </p:spPr>
      </p:pic>
    </p:spTree>
    <p:extLst>
      <p:ext uri="{BB962C8B-B14F-4D97-AF65-F5344CB8AC3E}">
        <p14:creationId xmlns:p14="http://schemas.microsoft.com/office/powerpoint/2010/main" val="821340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F4EC4-2EB4-5E30-13F7-564AE2F5B22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41E0BC5-0F53-A3A0-48AB-9D6A06BB799C}"/>
              </a:ext>
            </a:extLst>
          </p:cNvPr>
          <p:cNvSpPr txBox="1"/>
          <p:nvPr/>
        </p:nvSpPr>
        <p:spPr>
          <a:xfrm>
            <a:off x="806245" y="297253"/>
            <a:ext cx="6096000" cy="405752"/>
          </a:xfrm>
          <a:prstGeom prst="rect">
            <a:avLst/>
          </a:prstGeom>
          <a:noFill/>
        </p:spPr>
        <p:txBody>
          <a:bodyPr wrap="square">
            <a:spAutoFit/>
          </a:bodyPr>
          <a:lstStyle/>
          <a:p>
            <a:pPr marL="0" marR="0" lvl="0" indent="0" algn="l" rtl="0">
              <a:lnSpc>
                <a:spcPct val="80000"/>
              </a:lnSpc>
              <a:spcBef>
                <a:spcPts val="0"/>
              </a:spcBef>
              <a:spcAft>
                <a:spcPts val="0"/>
              </a:spcAft>
              <a:buClr>
                <a:srgbClr val="FF0000"/>
              </a:buClr>
              <a:buSzPts val="3200"/>
              <a:buFont typeface="Lato Black"/>
              <a:buNone/>
            </a:pPr>
            <a:r>
              <a:rPr lang="en-IN" sz="2500" b="1" i="0" u="none" strike="noStrike" cap="none" dirty="0">
                <a:solidFill>
                  <a:srgbClr val="FF0000"/>
                </a:solidFill>
                <a:latin typeface="Times New Roman" panose="02020603050405020304" pitchFamily="18" charset="0"/>
                <a:ea typeface="Lato Black"/>
                <a:cs typeface="Times New Roman" panose="02020603050405020304" pitchFamily="18" charset="0"/>
                <a:sym typeface="Lato Black"/>
              </a:rPr>
              <a:t>Categorical Columns</a:t>
            </a:r>
            <a:endParaRPr lang="en-IN" sz="2500" b="1" i="0" u="none" strike="noStrike" cap="none" dirty="0">
              <a:solidFill>
                <a:srgbClr val="FF0000"/>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8ACB6843-7440-2A2E-CFBE-8C7E496ADD56}"/>
              </a:ext>
            </a:extLst>
          </p:cNvPr>
          <p:cNvPicPr>
            <a:picLocks noChangeAspect="1"/>
          </p:cNvPicPr>
          <p:nvPr/>
        </p:nvPicPr>
        <p:blipFill>
          <a:blip r:embed="rId2"/>
          <a:stretch>
            <a:fillRect/>
          </a:stretch>
        </p:blipFill>
        <p:spPr>
          <a:xfrm>
            <a:off x="806245" y="849091"/>
            <a:ext cx="7713782" cy="5495345"/>
          </a:xfrm>
          <a:prstGeom prst="rect">
            <a:avLst/>
          </a:prstGeom>
        </p:spPr>
      </p:pic>
    </p:spTree>
    <p:extLst>
      <p:ext uri="{BB962C8B-B14F-4D97-AF65-F5344CB8AC3E}">
        <p14:creationId xmlns:p14="http://schemas.microsoft.com/office/powerpoint/2010/main" val="962035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3789C-A072-F81B-B19C-ED22B9D9F99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F922219-75D5-E514-3ACC-9E7C33F21F2F}"/>
              </a:ext>
            </a:extLst>
          </p:cNvPr>
          <p:cNvSpPr txBox="1"/>
          <p:nvPr/>
        </p:nvSpPr>
        <p:spPr>
          <a:xfrm>
            <a:off x="973393" y="385744"/>
            <a:ext cx="6096000" cy="405752"/>
          </a:xfrm>
          <a:prstGeom prst="rect">
            <a:avLst/>
          </a:prstGeom>
          <a:noFill/>
        </p:spPr>
        <p:txBody>
          <a:bodyPr wrap="square">
            <a:spAutoFit/>
          </a:bodyPr>
          <a:lstStyle/>
          <a:p>
            <a:pPr marL="0" marR="0" lvl="0" indent="0" algn="l" rtl="0">
              <a:lnSpc>
                <a:spcPct val="80000"/>
              </a:lnSpc>
              <a:spcBef>
                <a:spcPts val="0"/>
              </a:spcBef>
              <a:spcAft>
                <a:spcPts val="0"/>
              </a:spcAft>
              <a:buClr>
                <a:srgbClr val="FF0000"/>
              </a:buClr>
              <a:buSzPts val="3200"/>
              <a:buFont typeface="Lato Black"/>
              <a:buNone/>
            </a:pPr>
            <a:r>
              <a:rPr lang="en-IN" sz="2500" b="1" i="0" u="none" strike="noStrike" cap="none" dirty="0">
                <a:solidFill>
                  <a:srgbClr val="FF0000"/>
                </a:solidFill>
                <a:latin typeface="Times New Roman" panose="02020603050405020304" pitchFamily="18" charset="0"/>
                <a:ea typeface="Lato Black"/>
                <a:cs typeface="Times New Roman" panose="02020603050405020304" pitchFamily="18" charset="0"/>
                <a:sym typeface="Lato Black"/>
              </a:rPr>
              <a:t>Bivariate Analysis</a:t>
            </a:r>
            <a:endParaRPr lang="en-IN" sz="2500" b="1" i="0" u="none" strike="noStrike" cap="none" dirty="0">
              <a:solidFill>
                <a:srgbClr val="FF0000"/>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6901E101-85D9-F861-5112-BC8EB6E0D084}"/>
              </a:ext>
            </a:extLst>
          </p:cNvPr>
          <p:cNvPicPr>
            <a:picLocks noChangeAspect="1"/>
          </p:cNvPicPr>
          <p:nvPr/>
        </p:nvPicPr>
        <p:blipFill>
          <a:blip r:embed="rId2"/>
          <a:stretch>
            <a:fillRect/>
          </a:stretch>
        </p:blipFill>
        <p:spPr>
          <a:xfrm>
            <a:off x="973393" y="970935"/>
            <a:ext cx="6713941" cy="5228303"/>
          </a:xfrm>
          <a:prstGeom prst="rect">
            <a:avLst/>
          </a:prstGeom>
        </p:spPr>
      </p:pic>
    </p:spTree>
    <p:extLst>
      <p:ext uri="{BB962C8B-B14F-4D97-AF65-F5344CB8AC3E}">
        <p14:creationId xmlns:p14="http://schemas.microsoft.com/office/powerpoint/2010/main" val="35960406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EB2D2-89BD-E41C-E2E4-57FDE4421B8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4565701-1D31-E25B-3E9B-D0634D7CE2D7}"/>
              </a:ext>
            </a:extLst>
          </p:cNvPr>
          <p:cNvSpPr txBox="1"/>
          <p:nvPr/>
        </p:nvSpPr>
        <p:spPr>
          <a:xfrm>
            <a:off x="973393" y="385744"/>
            <a:ext cx="6096000" cy="405752"/>
          </a:xfrm>
          <a:prstGeom prst="rect">
            <a:avLst/>
          </a:prstGeom>
          <a:noFill/>
        </p:spPr>
        <p:txBody>
          <a:bodyPr wrap="square">
            <a:spAutoFit/>
          </a:bodyPr>
          <a:lstStyle/>
          <a:p>
            <a:pPr marL="0" marR="0" lvl="0" indent="0" algn="l" rtl="0">
              <a:lnSpc>
                <a:spcPct val="80000"/>
              </a:lnSpc>
              <a:spcBef>
                <a:spcPts val="0"/>
              </a:spcBef>
              <a:spcAft>
                <a:spcPts val="0"/>
              </a:spcAft>
              <a:buClr>
                <a:srgbClr val="FF0000"/>
              </a:buClr>
              <a:buSzPts val="3200"/>
              <a:buFont typeface="Lato Black"/>
              <a:buNone/>
            </a:pPr>
            <a:r>
              <a:rPr lang="en-IN" sz="2500" b="1" i="0" u="none" strike="noStrike" cap="none" dirty="0">
                <a:solidFill>
                  <a:srgbClr val="FF0000"/>
                </a:solidFill>
                <a:latin typeface="Times New Roman" panose="02020603050405020304" pitchFamily="18" charset="0"/>
                <a:ea typeface="Lato Black"/>
                <a:cs typeface="Times New Roman" panose="02020603050405020304" pitchFamily="18" charset="0"/>
                <a:sym typeface="Lato Black"/>
              </a:rPr>
              <a:t>Heat map</a:t>
            </a:r>
            <a:endParaRPr lang="en-IN" sz="2500" b="1" i="0" u="none" strike="noStrike" cap="none" dirty="0">
              <a:solidFill>
                <a:srgbClr val="FF0000"/>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41327C24-8489-54F2-987E-4376855FB8BF}"/>
              </a:ext>
            </a:extLst>
          </p:cNvPr>
          <p:cNvPicPr>
            <a:picLocks noChangeAspect="1"/>
          </p:cNvPicPr>
          <p:nvPr/>
        </p:nvPicPr>
        <p:blipFill>
          <a:blip r:embed="rId2"/>
          <a:stretch>
            <a:fillRect/>
          </a:stretch>
        </p:blipFill>
        <p:spPr>
          <a:xfrm>
            <a:off x="1406013" y="1147414"/>
            <a:ext cx="6426148" cy="5137550"/>
          </a:xfrm>
          <a:prstGeom prst="rect">
            <a:avLst/>
          </a:prstGeom>
        </p:spPr>
      </p:pic>
    </p:spTree>
    <p:extLst>
      <p:ext uri="{BB962C8B-B14F-4D97-AF65-F5344CB8AC3E}">
        <p14:creationId xmlns:p14="http://schemas.microsoft.com/office/powerpoint/2010/main" val="302579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1BBF9-EFFE-5824-8B28-83DE6A280E7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0FF02BB-82FB-6525-F55A-3B29C48AB078}"/>
              </a:ext>
            </a:extLst>
          </p:cNvPr>
          <p:cNvSpPr txBox="1"/>
          <p:nvPr/>
        </p:nvSpPr>
        <p:spPr>
          <a:xfrm>
            <a:off x="973393" y="385744"/>
            <a:ext cx="6096000" cy="405752"/>
          </a:xfrm>
          <a:prstGeom prst="rect">
            <a:avLst/>
          </a:prstGeom>
          <a:noFill/>
        </p:spPr>
        <p:txBody>
          <a:bodyPr wrap="square">
            <a:spAutoFit/>
          </a:bodyPr>
          <a:lstStyle/>
          <a:p>
            <a:pPr marL="0" marR="0" lvl="0" indent="0" algn="l" rtl="0">
              <a:lnSpc>
                <a:spcPct val="80000"/>
              </a:lnSpc>
              <a:spcBef>
                <a:spcPts val="0"/>
              </a:spcBef>
              <a:spcAft>
                <a:spcPts val="0"/>
              </a:spcAft>
              <a:buClr>
                <a:srgbClr val="FF0000"/>
              </a:buClr>
              <a:buSzPts val="3200"/>
              <a:buFont typeface="Lato Black"/>
              <a:buNone/>
            </a:pPr>
            <a:r>
              <a:rPr lang="en-US" sz="2500" b="1" dirty="0">
                <a:solidFill>
                  <a:srgbClr val="FF0000"/>
                </a:solidFill>
                <a:latin typeface="Times New Roman" panose="02020603050405020304" pitchFamily="18" charset="0"/>
                <a:ea typeface="Lato Black"/>
                <a:cs typeface="Times New Roman" panose="02020603050405020304" pitchFamily="18" charset="0"/>
                <a:sym typeface="Lato Black"/>
              </a:rPr>
              <a:t>K</a:t>
            </a:r>
            <a:r>
              <a:rPr lang="en-IN" sz="2500" b="1" dirty="0">
                <a:solidFill>
                  <a:srgbClr val="FF0000"/>
                </a:solidFill>
                <a:latin typeface="Times New Roman" panose="02020603050405020304" pitchFamily="18" charset="0"/>
                <a:ea typeface="Lato Black"/>
                <a:cs typeface="Times New Roman" panose="02020603050405020304" pitchFamily="18" charset="0"/>
                <a:sym typeface="Lato Black"/>
              </a:rPr>
              <a:t>DE Plot</a:t>
            </a:r>
            <a:endParaRPr lang="en-IN" sz="2500" b="1" i="0" u="none" strike="noStrike" cap="none" dirty="0">
              <a:solidFill>
                <a:srgbClr val="FF0000"/>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4C7B0AFB-5BAA-244F-2162-23246382594C}"/>
              </a:ext>
            </a:extLst>
          </p:cNvPr>
          <p:cNvPicPr>
            <a:picLocks noChangeAspect="1"/>
          </p:cNvPicPr>
          <p:nvPr/>
        </p:nvPicPr>
        <p:blipFill>
          <a:blip r:embed="rId2"/>
          <a:stretch>
            <a:fillRect/>
          </a:stretch>
        </p:blipFill>
        <p:spPr>
          <a:xfrm>
            <a:off x="1157901" y="1049901"/>
            <a:ext cx="8086725" cy="4895850"/>
          </a:xfrm>
          <a:prstGeom prst="rect">
            <a:avLst/>
          </a:prstGeom>
        </p:spPr>
      </p:pic>
    </p:spTree>
    <p:extLst>
      <p:ext uri="{BB962C8B-B14F-4D97-AF65-F5344CB8AC3E}">
        <p14:creationId xmlns:p14="http://schemas.microsoft.com/office/powerpoint/2010/main" val="15579492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D1004-A62C-5463-BD19-FC59566D144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0E71AD1-F55B-70A0-1D82-08197B673628}"/>
              </a:ext>
            </a:extLst>
          </p:cNvPr>
          <p:cNvSpPr txBox="1"/>
          <p:nvPr/>
        </p:nvSpPr>
        <p:spPr>
          <a:xfrm>
            <a:off x="973393" y="710208"/>
            <a:ext cx="6096000" cy="405752"/>
          </a:xfrm>
          <a:prstGeom prst="rect">
            <a:avLst/>
          </a:prstGeom>
          <a:noFill/>
        </p:spPr>
        <p:txBody>
          <a:bodyPr wrap="square">
            <a:spAutoFit/>
          </a:bodyPr>
          <a:lstStyle/>
          <a:p>
            <a:pPr marL="0" marR="0" lvl="0" indent="0" algn="l" rtl="0">
              <a:lnSpc>
                <a:spcPct val="80000"/>
              </a:lnSpc>
              <a:spcBef>
                <a:spcPts val="0"/>
              </a:spcBef>
              <a:spcAft>
                <a:spcPts val="0"/>
              </a:spcAft>
              <a:buClr>
                <a:srgbClr val="FF0000"/>
              </a:buClr>
              <a:buSzPts val="3200"/>
              <a:buFont typeface="Lato Black"/>
              <a:buNone/>
            </a:pPr>
            <a:r>
              <a:rPr lang="en-US" sz="2500" b="1" dirty="0">
                <a:solidFill>
                  <a:srgbClr val="FF0000"/>
                </a:solidFill>
                <a:latin typeface="Times New Roman" panose="02020603050405020304" pitchFamily="18" charset="0"/>
                <a:ea typeface="Lato Black"/>
                <a:cs typeface="Times New Roman" panose="02020603050405020304" pitchFamily="18" charset="0"/>
                <a:sym typeface="Lato Black"/>
              </a:rPr>
              <a:t>Top 10 Most Purchased Laptops </a:t>
            </a:r>
            <a:endParaRPr lang="en-IN" sz="2500" b="1" i="0" u="none" strike="noStrike" cap="none" dirty="0">
              <a:solidFill>
                <a:srgbClr val="FF0000"/>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98894E95-7F28-16B7-2534-0E259EB83227}"/>
              </a:ext>
            </a:extLst>
          </p:cNvPr>
          <p:cNvPicPr>
            <a:picLocks noChangeAspect="1"/>
          </p:cNvPicPr>
          <p:nvPr/>
        </p:nvPicPr>
        <p:blipFill>
          <a:blip r:embed="rId2"/>
          <a:stretch>
            <a:fillRect/>
          </a:stretch>
        </p:blipFill>
        <p:spPr>
          <a:xfrm>
            <a:off x="973393" y="1709345"/>
            <a:ext cx="10432026" cy="3439309"/>
          </a:xfrm>
          <a:prstGeom prst="rect">
            <a:avLst/>
          </a:prstGeom>
        </p:spPr>
      </p:pic>
    </p:spTree>
    <p:extLst>
      <p:ext uri="{BB962C8B-B14F-4D97-AF65-F5344CB8AC3E}">
        <p14:creationId xmlns:p14="http://schemas.microsoft.com/office/powerpoint/2010/main" val="3208022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8AE7B-6C1B-0961-66A4-4A0A8E90BFF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F0BA459-AB7B-9B49-E747-BDCE2D38B6EA}"/>
              </a:ext>
            </a:extLst>
          </p:cNvPr>
          <p:cNvSpPr txBox="1"/>
          <p:nvPr/>
        </p:nvSpPr>
        <p:spPr>
          <a:xfrm>
            <a:off x="973393" y="710208"/>
            <a:ext cx="6096000" cy="405752"/>
          </a:xfrm>
          <a:prstGeom prst="rect">
            <a:avLst/>
          </a:prstGeom>
          <a:noFill/>
        </p:spPr>
        <p:txBody>
          <a:bodyPr wrap="square">
            <a:spAutoFit/>
          </a:bodyPr>
          <a:lstStyle/>
          <a:p>
            <a:pPr marL="0" marR="0" lvl="0" indent="0" algn="l" rtl="0">
              <a:lnSpc>
                <a:spcPct val="80000"/>
              </a:lnSpc>
              <a:spcBef>
                <a:spcPts val="0"/>
              </a:spcBef>
              <a:spcAft>
                <a:spcPts val="0"/>
              </a:spcAft>
              <a:buClr>
                <a:srgbClr val="FF0000"/>
              </a:buClr>
              <a:buSzPts val="3200"/>
              <a:buFont typeface="Lato Black"/>
              <a:buNone/>
            </a:pPr>
            <a:r>
              <a:rPr lang="en-US" sz="2500" b="1" dirty="0">
                <a:solidFill>
                  <a:srgbClr val="FF0000"/>
                </a:solidFill>
                <a:latin typeface="Times New Roman" panose="02020603050405020304" pitchFamily="18" charset="0"/>
                <a:ea typeface="Lato Black"/>
                <a:cs typeface="Times New Roman" panose="02020603050405020304" pitchFamily="18" charset="0"/>
                <a:sym typeface="Lato Black"/>
              </a:rPr>
              <a:t>Most Common Display Sizes</a:t>
            </a:r>
            <a:endParaRPr lang="en-IN" sz="2500" b="1" i="0" u="none" strike="noStrike" cap="none" dirty="0">
              <a:solidFill>
                <a:srgbClr val="FF0000"/>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15033E43-23F7-2515-467C-92F7393A29B2}"/>
              </a:ext>
            </a:extLst>
          </p:cNvPr>
          <p:cNvPicPr>
            <a:picLocks noChangeAspect="1"/>
          </p:cNvPicPr>
          <p:nvPr/>
        </p:nvPicPr>
        <p:blipFill>
          <a:blip r:embed="rId2"/>
          <a:srcRect l="1660" t="1030" r="3496"/>
          <a:stretch>
            <a:fillRect/>
          </a:stretch>
        </p:blipFill>
        <p:spPr>
          <a:xfrm>
            <a:off x="2290916" y="1404697"/>
            <a:ext cx="7021589" cy="4376671"/>
          </a:xfrm>
          <a:prstGeom prst="rect">
            <a:avLst/>
          </a:prstGeom>
        </p:spPr>
      </p:pic>
    </p:spTree>
    <p:extLst>
      <p:ext uri="{BB962C8B-B14F-4D97-AF65-F5344CB8AC3E}">
        <p14:creationId xmlns:p14="http://schemas.microsoft.com/office/powerpoint/2010/main" val="18887111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E6B62-4307-5006-B995-76389F00F9F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9682A96-ED71-B401-18FC-C420D5EE6DA7}"/>
              </a:ext>
            </a:extLst>
          </p:cNvPr>
          <p:cNvSpPr txBox="1"/>
          <p:nvPr/>
        </p:nvSpPr>
        <p:spPr>
          <a:xfrm>
            <a:off x="973393" y="710208"/>
            <a:ext cx="6096000" cy="405752"/>
          </a:xfrm>
          <a:prstGeom prst="rect">
            <a:avLst/>
          </a:prstGeom>
          <a:noFill/>
        </p:spPr>
        <p:txBody>
          <a:bodyPr wrap="square">
            <a:spAutoFit/>
          </a:bodyPr>
          <a:lstStyle/>
          <a:p>
            <a:pPr marL="0" marR="0" lvl="0" indent="0" algn="l" rtl="0">
              <a:lnSpc>
                <a:spcPct val="80000"/>
              </a:lnSpc>
              <a:spcBef>
                <a:spcPts val="0"/>
              </a:spcBef>
              <a:spcAft>
                <a:spcPts val="0"/>
              </a:spcAft>
              <a:buClr>
                <a:srgbClr val="FF0000"/>
              </a:buClr>
              <a:buSzPts val="3200"/>
              <a:buFont typeface="Lato Black"/>
              <a:buNone/>
            </a:pPr>
            <a:r>
              <a:rPr lang="en-US" sz="2500" b="1" dirty="0">
                <a:solidFill>
                  <a:srgbClr val="FF0000"/>
                </a:solidFill>
                <a:latin typeface="Times New Roman" panose="02020603050405020304" pitchFamily="18" charset="0"/>
                <a:ea typeface="Lato Black"/>
                <a:cs typeface="Times New Roman" panose="02020603050405020304" pitchFamily="18" charset="0"/>
                <a:sym typeface="Lato Black"/>
              </a:rPr>
              <a:t>Low End Processors</a:t>
            </a:r>
            <a:endParaRPr lang="en-IN" sz="2500" b="1" i="0" u="none" strike="noStrike" cap="none" dirty="0">
              <a:solidFill>
                <a:srgbClr val="FF0000"/>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0F3C6603-B3A4-47D8-0A42-3CFEFCE7DBB1}"/>
              </a:ext>
            </a:extLst>
          </p:cNvPr>
          <p:cNvPicPr>
            <a:picLocks noChangeAspect="1"/>
          </p:cNvPicPr>
          <p:nvPr/>
        </p:nvPicPr>
        <p:blipFill>
          <a:blip r:embed="rId2"/>
          <a:srcRect t="1274" b="1"/>
          <a:stretch>
            <a:fillRect/>
          </a:stretch>
        </p:blipFill>
        <p:spPr>
          <a:xfrm>
            <a:off x="1743843" y="1396181"/>
            <a:ext cx="7839075" cy="4118794"/>
          </a:xfrm>
          <a:prstGeom prst="rect">
            <a:avLst/>
          </a:prstGeom>
        </p:spPr>
      </p:pic>
    </p:spTree>
    <p:extLst>
      <p:ext uri="{BB962C8B-B14F-4D97-AF65-F5344CB8AC3E}">
        <p14:creationId xmlns:p14="http://schemas.microsoft.com/office/powerpoint/2010/main" val="3609104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339C9F3-910C-CFDD-EBF0-58E56428A034}"/>
              </a:ext>
            </a:extLst>
          </p:cNvPr>
          <p:cNvSpPr txBox="1"/>
          <p:nvPr/>
        </p:nvSpPr>
        <p:spPr>
          <a:xfrm>
            <a:off x="599767" y="614760"/>
            <a:ext cx="6096000" cy="477054"/>
          </a:xfrm>
          <a:prstGeom prst="rect">
            <a:avLst/>
          </a:prstGeom>
          <a:noFill/>
        </p:spPr>
        <p:txBody>
          <a:bodyPr wrap="square">
            <a:spAutoFit/>
          </a:bodyPr>
          <a:lstStyle/>
          <a:p>
            <a:r>
              <a:rPr lang="en-US" sz="2500" b="1" dirty="0">
                <a:solidFill>
                  <a:srgbClr val="FF0000"/>
                </a:solidFill>
                <a:latin typeface="Times New Roman" panose="02020603050405020304" pitchFamily="18" charset="0"/>
                <a:cs typeface="Times New Roman" panose="02020603050405020304" pitchFamily="18" charset="0"/>
              </a:rPr>
              <a:t>OBSERVATIONS</a:t>
            </a:r>
            <a:endParaRPr lang="en-IN" sz="2500" b="1" dirty="0">
              <a:solidFill>
                <a:srgbClr val="FF0000"/>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6F02D39-4D84-2593-6353-86A74580AFC7}"/>
              </a:ext>
            </a:extLst>
          </p:cNvPr>
          <p:cNvSpPr txBox="1"/>
          <p:nvPr/>
        </p:nvSpPr>
        <p:spPr>
          <a:xfrm>
            <a:off x="599766" y="1234193"/>
            <a:ext cx="10432027" cy="4524315"/>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Central Tendency:</a:t>
            </a:r>
          </a:p>
          <a:p>
            <a:r>
              <a:rPr lang="en-US" sz="1800" dirty="0">
                <a:latin typeface="Times New Roman" panose="02020603050405020304" pitchFamily="18" charset="0"/>
                <a:cs typeface="Times New Roman" panose="02020603050405020304" pitchFamily="18" charset="0"/>
              </a:rPr>
              <a:t>Average rating across laptops</a:t>
            </a:r>
            <a:r>
              <a:rPr lang="en-US" sz="1800" b="1" dirty="0">
                <a:latin typeface="Times New Roman" panose="02020603050405020304" pitchFamily="18" charset="0"/>
                <a:cs typeface="Times New Roman" panose="02020603050405020304" pitchFamily="18" charset="0"/>
              </a:rPr>
              <a:t>: ~4.3</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Dispersion: ratings are tightly distributed between</a:t>
            </a:r>
            <a:r>
              <a:rPr lang="en-US" sz="1800" b="1" dirty="0">
                <a:latin typeface="Times New Roman" panose="02020603050405020304" pitchFamily="18" charset="0"/>
                <a:cs typeface="Times New Roman" panose="02020603050405020304" pitchFamily="18" charset="0"/>
              </a:rPr>
              <a:t> 4.0 and 4.8.</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Categorical Insights: </a:t>
            </a:r>
            <a:r>
              <a:rPr lang="en-US" sz="1800" b="1" dirty="0">
                <a:latin typeface="Times New Roman" panose="02020603050405020304" pitchFamily="18" charset="0"/>
                <a:cs typeface="Times New Roman" panose="02020603050405020304" pitchFamily="18" charset="0"/>
              </a:rPr>
              <a:t>Windows 11 Home </a:t>
            </a:r>
            <a:r>
              <a:rPr lang="en-US" sz="1800" dirty="0">
                <a:latin typeface="Times New Roman" panose="02020603050405020304" pitchFamily="18" charset="0"/>
                <a:cs typeface="Times New Roman" panose="02020603050405020304" pitchFamily="18" charset="0"/>
              </a:rPr>
              <a:t>is the most common OS type.</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Most laptops in the dataset are equipped with </a:t>
            </a:r>
            <a:r>
              <a:rPr lang="en-US" sz="1800" b="1" dirty="0">
                <a:latin typeface="Times New Roman" panose="02020603050405020304" pitchFamily="18" charset="0"/>
                <a:cs typeface="Times New Roman" panose="02020603050405020304" pitchFamily="18" charset="0"/>
              </a:rPr>
              <a:t>Intel</a:t>
            </a:r>
            <a:r>
              <a:rPr lang="en-US" sz="1800" dirty="0">
                <a:latin typeface="Times New Roman" panose="02020603050405020304" pitchFamily="18" charset="0"/>
                <a:cs typeface="Times New Roman" panose="02020603050405020304" pitchFamily="18" charset="0"/>
              </a:rPr>
              <a:t> processors, followed by AMD, indicating Intel’s dominance in the market.</a:t>
            </a:r>
          </a:p>
          <a:p>
            <a:endParaRPr lang="en-US" sz="1800" dirty="0">
              <a:latin typeface="Times New Roman" panose="02020603050405020304" pitchFamily="18" charset="0"/>
              <a:cs typeface="Times New Roman" panose="02020603050405020304" pitchFamily="18" charset="0"/>
            </a:endParaRPr>
          </a:p>
          <a:p>
            <a:r>
              <a:rPr lang="en-US" altLang="en-US" sz="1800" b="1" dirty="0">
                <a:solidFill>
                  <a:schemeClr val="tx1"/>
                </a:solidFill>
                <a:latin typeface="Times New Roman" panose="02020603050405020304" pitchFamily="18" charset="0"/>
                <a:cs typeface="Times New Roman" panose="02020603050405020304" pitchFamily="18" charset="0"/>
              </a:rPr>
              <a:t>15.6-</a:t>
            </a:r>
            <a:r>
              <a:rPr lang="en-US" altLang="en-US" sz="1800" dirty="0">
                <a:solidFill>
                  <a:schemeClr val="tx1"/>
                </a:solidFill>
                <a:latin typeface="Times New Roman" panose="02020603050405020304" pitchFamily="18" charset="0"/>
                <a:cs typeface="Times New Roman" panose="02020603050405020304" pitchFamily="18" charset="0"/>
              </a:rPr>
              <a:t>inch displays are the most common size, suggesting a balance between portability and usability.</a:t>
            </a:r>
          </a:p>
          <a:p>
            <a:endParaRPr lang="en-US" altLang="en-US" sz="1800" dirty="0">
              <a:solidFill>
                <a:schemeClr val="tx1"/>
              </a:solidFill>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Lower-end processors like </a:t>
            </a:r>
            <a:r>
              <a:rPr lang="en-US" sz="1800" b="1" dirty="0">
                <a:latin typeface="Times New Roman" panose="02020603050405020304" pitchFamily="18" charset="0"/>
                <a:cs typeface="Times New Roman" panose="02020603050405020304" pitchFamily="18" charset="0"/>
              </a:rPr>
              <a:t>Celeron</a:t>
            </a:r>
            <a:r>
              <a:rPr lang="en-US" sz="1800" dirty="0">
                <a:latin typeface="Times New Roman" panose="02020603050405020304" pitchFamily="18" charset="0"/>
                <a:cs typeface="Times New Roman" panose="02020603050405020304" pitchFamily="18" charset="0"/>
              </a:rPr>
              <a:t> contributed less revenue.</a:t>
            </a:r>
            <a:endParaRPr lang="en-US" altLang="en-US" sz="1800" dirty="0">
              <a:solidFill>
                <a:schemeClr val="tx1"/>
              </a:solidFill>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89221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7FE81-1052-0C10-B758-6F1DA0B296C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97A0BB6-6059-A18C-C262-8BF1CEC19CAD}"/>
              </a:ext>
            </a:extLst>
          </p:cNvPr>
          <p:cNvSpPr txBox="1"/>
          <p:nvPr/>
        </p:nvSpPr>
        <p:spPr>
          <a:xfrm>
            <a:off x="737812" y="456406"/>
            <a:ext cx="6096000" cy="507831"/>
          </a:xfrm>
          <a:prstGeom prst="rect">
            <a:avLst/>
          </a:prstGeom>
          <a:noFill/>
        </p:spPr>
        <p:txBody>
          <a:bodyPr wrap="square">
            <a:spAutoFit/>
          </a:bodyPr>
          <a:lstStyle/>
          <a:p>
            <a:pPr lvl="0" algn="just">
              <a:lnSpc>
                <a:spcPct val="90000"/>
              </a:lnSpc>
              <a:spcBef>
                <a:spcPts val="1000"/>
              </a:spcBef>
              <a:buClr>
                <a:schemeClr val="dk1"/>
              </a:buClr>
              <a:buSzPct val="100000"/>
            </a:pPr>
            <a:r>
              <a:rPr lang="en-IN" sz="3000" b="1" dirty="0">
                <a:solidFill>
                  <a:srgbClr val="FF0000"/>
                </a:solidFill>
                <a:latin typeface="Times New Roman" panose="02020603050405020304" pitchFamily="18" charset="0"/>
                <a:cs typeface="Times New Roman" panose="02020603050405020304" pitchFamily="18" charset="0"/>
              </a:rPr>
              <a:t>Conclusion</a:t>
            </a:r>
          </a:p>
        </p:txBody>
      </p:sp>
      <p:sp>
        <p:nvSpPr>
          <p:cNvPr id="4" name="TextBox 3">
            <a:extLst>
              <a:ext uri="{FF2B5EF4-FFF2-40B4-BE49-F238E27FC236}">
                <a16:creationId xmlns:a16="http://schemas.microsoft.com/office/drawing/2014/main" id="{F32B2CEF-B8A0-B7F0-B2E2-635557BAD4DD}"/>
              </a:ext>
            </a:extLst>
          </p:cNvPr>
          <p:cNvSpPr txBox="1"/>
          <p:nvPr/>
        </p:nvSpPr>
        <p:spPr>
          <a:xfrm>
            <a:off x="816077" y="1182231"/>
            <a:ext cx="10422194" cy="4197559"/>
          </a:xfrm>
          <a:prstGeom prst="rect">
            <a:avLst/>
          </a:prstGeom>
          <a:noFill/>
        </p:spPr>
        <p:txBody>
          <a:bodyPr wrap="square">
            <a:spAutoFit/>
          </a:bodyPr>
          <a:lstStyle/>
          <a:p>
            <a:pPr>
              <a:lnSpc>
                <a:spcPct val="150000"/>
              </a:lnSpc>
            </a:pPr>
            <a:r>
              <a:rPr lang="en-US" sz="1800" dirty="0">
                <a:latin typeface="Times New Roman" panose="02020603050405020304" pitchFamily="18" charset="0"/>
                <a:cs typeface="Times New Roman" panose="02020603050405020304" pitchFamily="18" charset="0"/>
              </a:rPr>
              <a:t>This project involved web scraping and exploratory data analysis (EDA) on a laptop dataset to understand market trends, product performance, and customer preferences. After cleaning the data and performing detailed univariate and bivariate analyses, it was observed that most laptops feature </a:t>
            </a:r>
            <a:r>
              <a:rPr lang="en-US" sz="1800" b="1" dirty="0">
                <a:latin typeface="Times New Roman" panose="02020603050405020304" pitchFamily="18" charset="0"/>
                <a:cs typeface="Times New Roman" panose="02020603050405020304" pitchFamily="18" charset="0"/>
              </a:rPr>
              <a:t>Intel processors</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Windows 11 Home OS</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15.6-inch displays</a:t>
            </a:r>
            <a:r>
              <a:rPr lang="en-US" sz="1800" dirty="0">
                <a:latin typeface="Times New Roman" panose="02020603050405020304" pitchFamily="18" charset="0"/>
                <a:cs typeface="Times New Roman" panose="02020603050405020304" pitchFamily="18" charset="0"/>
              </a:rPr>
              <a:t>, reflecting mainstream consumer demand. The average customer rating was above </a:t>
            </a:r>
            <a:r>
              <a:rPr lang="en-US" sz="1800" b="1" dirty="0">
                <a:latin typeface="Times New Roman" panose="02020603050405020304" pitchFamily="18" charset="0"/>
                <a:cs typeface="Times New Roman" panose="02020603050405020304" pitchFamily="18" charset="0"/>
              </a:rPr>
              <a:t>4.2</a:t>
            </a:r>
            <a:r>
              <a:rPr lang="en-US" sz="1800" dirty="0">
                <a:latin typeface="Times New Roman" panose="02020603050405020304" pitchFamily="18" charset="0"/>
                <a:cs typeface="Times New Roman" panose="02020603050405020304" pitchFamily="18" charset="0"/>
              </a:rPr>
              <a:t>, indicating overall high satisfaction. Premium configurations such as </a:t>
            </a:r>
            <a:r>
              <a:rPr lang="en-US" sz="1800" b="1" dirty="0">
                <a:latin typeface="Times New Roman" panose="02020603050405020304" pitchFamily="18" charset="0"/>
                <a:cs typeface="Times New Roman" panose="02020603050405020304" pitchFamily="18" charset="0"/>
              </a:rPr>
              <a:t>Intel i7</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AMD Ryzen 7</a:t>
            </a:r>
            <a:r>
              <a:rPr lang="en-US" sz="1800" dirty="0">
                <a:latin typeface="Times New Roman" panose="02020603050405020304" pitchFamily="18" charset="0"/>
                <a:cs typeface="Times New Roman" panose="02020603050405020304" pitchFamily="18" charset="0"/>
              </a:rPr>
              <a:t> models showed higher ratings and generated greater gross income, while lower-end processors like </a:t>
            </a:r>
            <a:r>
              <a:rPr lang="en-US" sz="1800" b="1" dirty="0">
                <a:latin typeface="Times New Roman" panose="02020603050405020304" pitchFamily="18" charset="0"/>
                <a:cs typeface="Times New Roman" panose="02020603050405020304" pitchFamily="18" charset="0"/>
              </a:rPr>
              <a:t>Celeron</a:t>
            </a:r>
            <a:r>
              <a:rPr lang="en-US" sz="1800" dirty="0">
                <a:latin typeface="Times New Roman" panose="02020603050405020304" pitchFamily="18" charset="0"/>
                <a:cs typeface="Times New Roman" panose="02020603050405020304" pitchFamily="18" charset="0"/>
              </a:rPr>
              <a:t> contributed less revenue. The analysis also revealed that larger display models and higher RAM configurations positively influence both customer ratings and income. Overall, the EDA provided valuable insights into how specifications affect sales and user satisfaction, helping identify key factors that drive laptop performance and profitability.</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17585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59840" y="2532625"/>
            <a:ext cx="3902095" cy="248182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5000" b="0" i="0" u="none" strike="noStrike" cap="none" dirty="0">
                <a:solidFill>
                  <a:srgbClr val="C00000"/>
                </a:solidFill>
                <a:latin typeface="Libre Baskerville"/>
                <a:ea typeface="Libre Baskerville"/>
                <a:cs typeface="Libre Baskerville"/>
                <a:sym typeface="Libre Baskerville"/>
              </a:rPr>
              <a:t>THANK YOU</a:t>
            </a:r>
            <a:endParaRPr sz="50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174</TotalTime>
  <Words>603</Words>
  <Application>Microsoft Office PowerPoint</Application>
  <PresentationFormat>Widescreen</PresentationFormat>
  <Paragraphs>81</Paragraphs>
  <Slides>24</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Lato Black</vt:lpstr>
      <vt:lpstr>Wingdings</vt:lpstr>
      <vt:lpstr>Calibri</vt:lpstr>
      <vt:lpstr>Arial</vt:lpstr>
      <vt:lpstr>Times New Roman</vt:lpstr>
      <vt:lpstr>Libre Baskerville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Sandhya Reddy</cp:lastModifiedBy>
  <cp:revision>6</cp:revision>
  <dcterms:created xsi:type="dcterms:W3CDTF">2021-02-16T05:19:01Z</dcterms:created>
  <dcterms:modified xsi:type="dcterms:W3CDTF">2025-12-04T07:34:08Z</dcterms:modified>
</cp:coreProperties>
</file>